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60" r:id="rId3"/>
    <p:sldId id="257" r:id="rId4"/>
    <p:sldId id="259" r:id="rId5"/>
    <p:sldId id="258"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2DDFEB0-0F49-4AB8-B9F1-D9171C2C971A}" v="14" dt="2026-03-12T02:11:20.3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0567" autoAdjust="0"/>
  </p:normalViewPr>
  <p:slideViewPr>
    <p:cSldViewPr snapToGrid="0" snapToObjects="1">
      <p:cViewPr varScale="1">
        <p:scale>
          <a:sx n="78" d="100"/>
          <a:sy n="78" d="100"/>
        </p:scale>
        <p:origin x="345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znier Mederos" userId="a3c79a9c1066cac8" providerId="LiveId" clId="{BC899B40-3BD4-45B3-A649-46BF8A6FFE40}"/>
    <pc:docChg chg="custSel addSld modSld">
      <pc:chgData name="Laznier Mederos" userId="a3c79a9c1066cac8" providerId="LiveId" clId="{BC899B40-3BD4-45B3-A649-46BF8A6FFE40}" dt="2026-03-13T22:40:21.242" v="135" actId="1076"/>
      <pc:docMkLst>
        <pc:docMk/>
      </pc:docMkLst>
      <pc:sldChg chg="addSp delSp modSp mod delAnim modNotesTx">
        <pc:chgData name="Laznier Mederos" userId="a3c79a9c1066cac8" providerId="LiveId" clId="{BC899B40-3BD4-45B3-A649-46BF8A6FFE40}" dt="2026-03-13T22:40:21.242" v="135" actId="1076"/>
        <pc:sldMkLst>
          <pc:docMk/>
          <pc:sldMk cId="0" sldId="256"/>
        </pc:sldMkLst>
        <pc:spChg chg="del">
          <ac:chgData name="Laznier Mederos" userId="a3c79a9c1066cac8" providerId="LiveId" clId="{BC899B40-3BD4-45B3-A649-46BF8A6FFE40}" dt="2026-03-12T01:35:00.333" v="4" actId="478"/>
          <ac:spMkLst>
            <pc:docMk/>
            <pc:sldMk cId="0" sldId="256"/>
            <ac:spMk id="2" creationId="{00000000-0000-0000-0000-000000000000}"/>
          </ac:spMkLst>
        </pc:spChg>
        <pc:spChg chg="mod">
          <ac:chgData name="Laznier Mederos" userId="a3c79a9c1066cac8" providerId="LiveId" clId="{BC899B40-3BD4-45B3-A649-46BF8A6FFE40}" dt="2026-03-12T01:57:23.695" v="106" actId="14100"/>
          <ac:spMkLst>
            <pc:docMk/>
            <pc:sldMk cId="0" sldId="256"/>
            <ac:spMk id="3" creationId="{00000000-0000-0000-0000-000000000000}"/>
          </ac:spMkLst>
        </pc:spChg>
        <pc:spChg chg="del mod">
          <ac:chgData name="Laznier Mederos" userId="a3c79a9c1066cac8" providerId="LiveId" clId="{BC899B40-3BD4-45B3-A649-46BF8A6FFE40}" dt="2026-03-12T01:36:08.151" v="23" actId="478"/>
          <ac:spMkLst>
            <pc:docMk/>
            <pc:sldMk cId="0" sldId="256"/>
            <ac:spMk id="4" creationId="{00000000-0000-0000-0000-000000000000}"/>
          </ac:spMkLst>
        </pc:spChg>
        <pc:spChg chg="mod">
          <ac:chgData name="Laznier Mederos" userId="a3c79a9c1066cac8" providerId="LiveId" clId="{BC899B40-3BD4-45B3-A649-46BF8A6FFE40}" dt="2026-03-13T22:40:21.242" v="135" actId="1076"/>
          <ac:spMkLst>
            <pc:docMk/>
            <pc:sldMk cId="0" sldId="256"/>
            <ac:spMk id="5" creationId="{00000000-0000-0000-0000-000000000000}"/>
          </ac:spMkLst>
        </pc:spChg>
        <pc:spChg chg="del mod">
          <ac:chgData name="Laznier Mederos" userId="a3c79a9c1066cac8" providerId="LiveId" clId="{BC899B40-3BD4-45B3-A649-46BF8A6FFE40}" dt="2026-03-12T01:37:14.982" v="37" actId="478"/>
          <ac:spMkLst>
            <pc:docMk/>
            <pc:sldMk cId="0" sldId="256"/>
            <ac:spMk id="6" creationId="{00000000-0000-0000-0000-000000000000}"/>
          </ac:spMkLst>
        </pc:spChg>
        <pc:spChg chg="del">
          <ac:chgData name="Laznier Mederos" userId="a3c79a9c1066cac8" providerId="LiveId" clId="{BC899B40-3BD4-45B3-A649-46BF8A6FFE40}" dt="2026-03-12T01:34:59.186" v="3" actId="478"/>
          <ac:spMkLst>
            <pc:docMk/>
            <pc:sldMk cId="0" sldId="256"/>
            <ac:spMk id="7" creationId="{00000000-0000-0000-0000-000000000000}"/>
          </ac:spMkLst>
        </pc:spChg>
        <pc:spChg chg="del">
          <ac:chgData name="Laznier Mederos" userId="a3c79a9c1066cac8" providerId="LiveId" clId="{BC899B40-3BD4-45B3-A649-46BF8A6FFE40}" dt="2026-03-12T01:35:05.309" v="7" actId="478"/>
          <ac:spMkLst>
            <pc:docMk/>
            <pc:sldMk cId="0" sldId="256"/>
            <ac:spMk id="8" creationId="{00000000-0000-0000-0000-000000000000}"/>
          </ac:spMkLst>
        </pc:spChg>
        <pc:spChg chg="del mod">
          <ac:chgData name="Laznier Mederos" userId="a3c79a9c1066cac8" providerId="LiveId" clId="{BC899B40-3BD4-45B3-A649-46BF8A6FFE40}" dt="2026-03-12T01:35:02.345" v="6" actId="478"/>
          <ac:spMkLst>
            <pc:docMk/>
            <pc:sldMk cId="0" sldId="256"/>
            <ac:spMk id="9" creationId="{00000000-0000-0000-0000-000000000000}"/>
          </ac:spMkLst>
        </pc:spChg>
        <pc:spChg chg="del">
          <ac:chgData name="Laznier Mederos" userId="a3c79a9c1066cac8" providerId="LiveId" clId="{BC899B40-3BD4-45B3-A649-46BF8A6FFE40}" dt="2026-03-12T01:35:11.571" v="9" actId="478"/>
          <ac:spMkLst>
            <pc:docMk/>
            <pc:sldMk cId="0" sldId="256"/>
            <ac:spMk id="10" creationId="{00000000-0000-0000-0000-000000000000}"/>
          </ac:spMkLst>
        </pc:spChg>
        <pc:spChg chg="del mod">
          <ac:chgData name="Laznier Mederos" userId="a3c79a9c1066cac8" providerId="LiveId" clId="{BC899B40-3BD4-45B3-A649-46BF8A6FFE40}" dt="2026-03-12T01:35:13.462" v="10" actId="478"/>
          <ac:spMkLst>
            <pc:docMk/>
            <pc:sldMk cId="0" sldId="256"/>
            <ac:spMk id="11" creationId="{00000000-0000-0000-0000-000000000000}"/>
          </ac:spMkLst>
        </pc:spChg>
        <pc:spChg chg="del">
          <ac:chgData name="Laznier Mederos" userId="a3c79a9c1066cac8" providerId="LiveId" clId="{BC899B40-3BD4-45B3-A649-46BF8A6FFE40}" dt="2026-03-12T01:34:57.988" v="2" actId="478"/>
          <ac:spMkLst>
            <pc:docMk/>
            <pc:sldMk cId="0" sldId="256"/>
            <ac:spMk id="12" creationId="{00000000-0000-0000-0000-000000000000}"/>
          </ac:spMkLst>
        </pc:spChg>
        <pc:spChg chg="del">
          <ac:chgData name="Laznier Mederos" userId="a3c79a9c1066cac8" providerId="LiveId" clId="{BC899B40-3BD4-45B3-A649-46BF8A6FFE40}" dt="2026-03-12T01:35:15.505" v="11" actId="478"/>
          <ac:spMkLst>
            <pc:docMk/>
            <pc:sldMk cId="0" sldId="256"/>
            <ac:spMk id="14" creationId="{00000000-0000-0000-0000-000000000000}"/>
          </ac:spMkLst>
        </pc:spChg>
        <pc:spChg chg="add mod">
          <ac:chgData name="Laznier Mederos" userId="a3c79a9c1066cac8" providerId="LiveId" clId="{BC899B40-3BD4-45B3-A649-46BF8A6FFE40}" dt="2026-03-13T22:40:06.404" v="134" actId="20577"/>
          <ac:spMkLst>
            <pc:docMk/>
            <pc:sldMk cId="0" sldId="256"/>
            <ac:spMk id="15" creationId="{3A93A91C-4B23-95A1-68E6-A323DE5C9437}"/>
          </ac:spMkLst>
        </pc:spChg>
        <pc:spChg chg="add mod">
          <ac:chgData name="Laznier Mederos" userId="a3c79a9c1066cac8" providerId="LiveId" clId="{BC899B40-3BD4-45B3-A649-46BF8A6FFE40}" dt="2026-03-12T01:39:16.606" v="60" actId="20577"/>
          <ac:spMkLst>
            <pc:docMk/>
            <pc:sldMk cId="0" sldId="256"/>
            <ac:spMk id="17" creationId="{860A85D6-8C77-FD57-9A30-C2CEC8BDB296}"/>
          </ac:spMkLst>
        </pc:spChg>
        <pc:spChg chg="add mod">
          <ac:chgData name="Laznier Mederos" userId="a3c79a9c1066cac8" providerId="LiveId" clId="{BC899B40-3BD4-45B3-A649-46BF8A6FFE40}" dt="2026-03-12T01:58:31.038" v="126" actId="403"/>
          <ac:spMkLst>
            <pc:docMk/>
            <pc:sldMk cId="0" sldId="256"/>
            <ac:spMk id="21" creationId="{F288D05F-DD25-4C38-F5AD-A23AA59BB594}"/>
          </ac:spMkLst>
        </pc:spChg>
        <pc:picChg chg="del">
          <ac:chgData name="Laznier Mederos" userId="a3c79a9c1066cac8" providerId="LiveId" clId="{BC899B40-3BD4-45B3-A649-46BF8A6FFE40}" dt="2026-03-12T01:34:57.004" v="1" actId="478"/>
          <ac:picMkLst>
            <pc:docMk/>
            <pc:sldMk cId="0" sldId="256"/>
            <ac:picMk id="13" creationId="{00000000-0000-0000-0000-000000000000}"/>
          </ac:picMkLst>
        </pc:picChg>
        <pc:picChg chg="add del mod">
          <ac:chgData name="Laznier Mederos" userId="a3c79a9c1066cac8" providerId="LiveId" clId="{BC899B40-3BD4-45B3-A649-46BF8A6FFE40}" dt="2026-03-13T22:04:15.401" v="127" actId="478"/>
          <ac:picMkLst>
            <pc:docMk/>
            <pc:sldMk cId="0" sldId="256"/>
            <ac:picMk id="20" creationId="{ABD75CEC-D743-7E0A-3DEB-7895422A778F}"/>
          </ac:picMkLst>
        </pc:picChg>
      </pc:sldChg>
      <pc:sldChg chg="addSp delSp modSp mod delAnim">
        <pc:chgData name="Laznier Mederos" userId="a3c79a9c1066cac8" providerId="LiveId" clId="{BC899B40-3BD4-45B3-A649-46BF8A6FFE40}" dt="2026-03-13T22:04:19.731" v="129" actId="478"/>
        <pc:sldMkLst>
          <pc:docMk/>
          <pc:sldMk cId="0" sldId="257"/>
        </pc:sldMkLst>
        <pc:picChg chg="add del mod">
          <ac:chgData name="Laznier Mederos" userId="a3c79a9c1066cac8" providerId="LiveId" clId="{BC899B40-3BD4-45B3-A649-46BF8A6FFE40}" dt="2026-03-13T22:04:19.731" v="129" actId="478"/>
          <ac:picMkLst>
            <pc:docMk/>
            <pc:sldMk cId="0" sldId="257"/>
            <ac:picMk id="16" creationId="{914AD164-B189-22AB-D7F7-E9D7BCEF2318}"/>
          </ac:picMkLst>
        </pc:picChg>
      </pc:sldChg>
      <pc:sldChg chg="addSp delSp modSp mod delAnim">
        <pc:chgData name="Laznier Mederos" userId="a3c79a9c1066cac8" providerId="LiveId" clId="{BC899B40-3BD4-45B3-A649-46BF8A6FFE40}" dt="2026-03-13T22:04:25.548" v="131" actId="478"/>
        <pc:sldMkLst>
          <pc:docMk/>
          <pc:sldMk cId="0" sldId="258"/>
        </pc:sldMkLst>
        <pc:picChg chg="add del mod">
          <ac:chgData name="Laznier Mederos" userId="a3c79a9c1066cac8" providerId="LiveId" clId="{BC899B40-3BD4-45B3-A649-46BF8A6FFE40}" dt="2026-03-13T22:04:25.548" v="131" actId="478"/>
          <ac:picMkLst>
            <pc:docMk/>
            <pc:sldMk cId="0" sldId="258"/>
            <ac:picMk id="16" creationId="{AE0F55E5-13AF-1AE0-CB25-19A224DBCCF8}"/>
          </ac:picMkLst>
        </pc:picChg>
      </pc:sldChg>
      <pc:sldChg chg="addSp delSp modSp mod delAnim">
        <pc:chgData name="Laznier Mederos" userId="a3c79a9c1066cac8" providerId="LiveId" clId="{BC899B40-3BD4-45B3-A649-46BF8A6FFE40}" dt="2026-03-13T22:04:22.816" v="130" actId="478"/>
        <pc:sldMkLst>
          <pc:docMk/>
          <pc:sldMk cId="1421107139" sldId="259"/>
        </pc:sldMkLst>
        <pc:picChg chg="add del mod">
          <ac:chgData name="Laznier Mederos" userId="a3c79a9c1066cac8" providerId="LiveId" clId="{BC899B40-3BD4-45B3-A649-46BF8A6FFE40}" dt="2026-03-13T22:04:22.816" v="130" actId="478"/>
          <ac:picMkLst>
            <pc:docMk/>
            <pc:sldMk cId="1421107139" sldId="259"/>
            <ac:picMk id="8" creationId="{86D7C735-C6F7-0F6E-CB15-E8C78C86079C}"/>
          </ac:picMkLst>
        </pc:picChg>
      </pc:sldChg>
      <pc:sldChg chg="addSp delSp modSp add mod delAnim">
        <pc:chgData name="Laznier Mederos" userId="a3c79a9c1066cac8" providerId="LiveId" clId="{BC899B40-3BD4-45B3-A649-46BF8A6FFE40}" dt="2026-03-13T22:04:17.459" v="128" actId="478"/>
        <pc:sldMkLst>
          <pc:docMk/>
          <pc:sldMk cId="1894355747" sldId="260"/>
        </pc:sldMkLst>
        <pc:picChg chg="add del mod">
          <ac:chgData name="Laznier Mederos" userId="a3c79a9c1066cac8" providerId="LiveId" clId="{BC899B40-3BD4-45B3-A649-46BF8A6FFE40}" dt="2026-03-13T22:04:17.459" v="128" actId="478"/>
          <ac:picMkLst>
            <pc:docMk/>
            <pc:sldMk cId="1894355747" sldId="260"/>
            <ac:picMk id="16" creationId="{317D6A0D-1A31-2238-66C8-7A508C56922D}"/>
          </ac:picMkLst>
        </pc:picChg>
      </pc:sldChg>
      <pc:sldChg chg="addSp delSp modSp add mod setBg delAnim">
        <pc:chgData name="Laznier Mederos" userId="a3c79a9c1066cac8" providerId="LiveId" clId="{BC899B40-3BD4-45B3-A649-46BF8A6FFE40}" dt="2026-03-13T22:04:28.804" v="132" actId="478"/>
        <pc:sldMkLst>
          <pc:docMk/>
          <pc:sldMk cId="3656107343" sldId="261"/>
        </pc:sldMkLst>
        <pc:spChg chg="add mod">
          <ac:chgData name="Laznier Mederos" userId="a3c79a9c1066cac8" providerId="LiveId" clId="{BC899B40-3BD4-45B3-A649-46BF8A6FFE40}" dt="2026-03-12T01:43:59.485" v="76"/>
          <ac:spMkLst>
            <pc:docMk/>
            <pc:sldMk cId="3656107343" sldId="261"/>
            <ac:spMk id="2" creationId="{279AA45B-DA97-F5A9-A265-692C3E412CA0}"/>
          </ac:spMkLst>
        </pc:spChg>
        <pc:spChg chg="mod">
          <ac:chgData name="Laznier Mederos" userId="a3c79a9c1066cac8" providerId="LiveId" clId="{BC899B40-3BD4-45B3-A649-46BF8A6FFE40}" dt="2026-03-12T01:44:09.800" v="77" actId="20577"/>
          <ac:spMkLst>
            <pc:docMk/>
            <pc:sldMk cId="3656107343" sldId="261"/>
            <ac:spMk id="3" creationId="{34B42150-6F5E-BF17-2426-48450283A788}"/>
          </ac:spMkLst>
        </pc:spChg>
        <pc:spChg chg="add mod">
          <ac:chgData name="Laznier Mederos" userId="a3c79a9c1066cac8" providerId="LiveId" clId="{BC899B40-3BD4-45B3-A649-46BF8A6FFE40}" dt="2026-03-12T01:43:59.485" v="76"/>
          <ac:spMkLst>
            <pc:docMk/>
            <pc:sldMk cId="3656107343" sldId="261"/>
            <ac:spMk id="4" creationId="{410A7618-7057-8E4C-00C2-214347285FA8}"/>
          </ac:spMkLst>
        </pc:spChg>
        <pc:spChg chg="mod">
          <ac:chgData name="Laznier Mederos" userId="a3c79a9c1066cac8" providerId="LiveId" clId="{BC899B40-3BD4-45B3-A649-46BF8A6FFE40}" dt="2026-03-12T01:42:55.493" v="72" actId="20577"/>
          <ac:spMkLst>
            <pc:docMk/>
            <pc:sldMk cId="3656107343" sldId="261"/>
            <ac:spMk id="15" creationId="{9996AEB2-45D0-3A56-68C8-9F510283FD82}"/>
          </ac:spMkLst>
        </pc:spChg>
        <pc:spChg chg="del mod">
          <ac:chgData name="Laznier Mederos" userId="a3c79a9c1066cac8" providerId="LiveId" clId="{BC899B40-3BD4-45B3-A649-46BF8A6FFE40}" dt="2026-03-12T01:43:43.431" v="75" actId="478"/>
          <ac:spMkLst>
            <pc:docMk/>
            <pc:sldMk cId="3656107343" sldId="261"/>
            <ac:spMk id="17" creationId="{DF083874-0974-11B9-BE7B-9BFF63E9DE40}"/>
          </ac:spMkLst>
        </pc:spChg>
        <pc:picChg chg="add del mod">
          <ac:chgData name="Laznier Mederos" userId="a3c79a9c1066cac8" providerId="LiveId" clId="{BC899B40-3BD4-45B3-A649-46BF8A6FFE40}" dt="2026-03-13T22:04:28.804" v="132" actId="478"/>
          <ac:picMkLst>
            <pc:docMk/>
            <pc:sldMk cId="3656107343" sldId="261"/>
            <ac:picMk id="8" creationId="{BF7F75E1-A807-746A-E56A-FD0AA8E6C9A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82531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541999-22F5-3B21-E8D9-7F7989350D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5E3ACB-98CD-F9E3-5252-14CAB30FE1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EF5EE4-474D-0987-5B24-F2A3B9482478}"/>
              </a:ext>
            </a:extLst>
          </p:cNvPr>
          <p:cNvSpPr>
            <a:spLocks noGrp="1"/>
          </p:cNvSpPr>
          <p:nvPr>
            <p:ph type="body" idx="1"/>
          </p:nvPr>
        </p:nvSpPr>
        <p:spPr/>
        <p:txBody>
          <a:bodyPr/>
          <a:lstStyle/>
          <a:p>
            <a:r>
              <a:rPr lang="en-US" b="1" dirty="0"/>
              <a:t>Narration:</a:t>
            </a:r>
            <a:br>
              <a:rPr lang="en-US" dirty="0"/>
            </a:br>
            <a:r>
              <a:rPr lang="en-US" dirty="0"/>
              <a:t>For this slide, I’m using the PESTEL chart to show how Tesla’s external environment differs across the United States, Europe, and China. The numbers on this chart are not pulled from one single table. I built them as evidence-based comparative scores on a 1-to-10 scale using the sources from my Unit 4 analysis. For example, the political, legal, and environmental dimensions were informed by the IEA’s </a:t>
            </a:r>
            <a:r>
              <a:rPr lang="en-US" i="1" dirty="0"/>
              <a:t>Global EV Outlook</a:t>
            </a:r>
            <a:r>
              <a:rPr lang="en-US" dirty="0"/>
              <a:t>, IRS clean vehicle credit guidance, and the European Commission’s actions on Chinese EV imports. I also used Tesla’s 2024 10-K to ground the technology side of the analysis.</a:t>
            </a:r>
          </a:p>
          <a:p>
            <a:r>
              <a:rPr lang="en-US" dirty="0"/>
              <a:t>So this chart is meant to show relative pressure and opportunity by region. Europe scores higher on environmental and legal influence because regulation and emissions policy matter a lot there. China scores higher on economic and technological pressure because competition, battery scale, and cost discipline are strongest in that market. The U.S. scores high on political and legal influence because subsidy eligibility, sourcing rules, and regulatory oversight can directly affect demand and profitability. My main takeaway is that Tesla still operates in a favorable long-term market, but success depends on managing very different regional policy, cost, and compliance conditions.</a:t>
            </a:r>
          </a:p>
          <a:p>
            <a:r>
              <a:rPr lang="en-US" b="1" dirty="0"/>
              <a:t>Slide references:</a:t>
            </a:r>
            <a:br>
              <a:rPr lang="en-US" dirty="0"/>
            </a:br>
            <a:r>
              <a:rPr lang="en-US" dirty="0"/>
              <a:t>European Commission. (2024, December 12). </a:t>
            </a:r>
            <a:r>
              <a:rPr lang="en-US" i="1" dirty="0"/>
              <a:t>EU Commission imposes countervailing duties on imports of battery electric vehicles (BEVs) from China.</a:t>
            </a:r>
            <a:br>
              <a:rPr lang="en-US" dirty="0"/>
            </a:br>
            <a:r>
              <a:rPr lang="en-US" dirty="0"/>
              <a:t>Internal Revenue Service. (2025, November 13). </a:t>
            </a:r>
            <a:r>
              <a:rPr lang="en-US" i="1" dirty="0"/>
              <a:t>Credits for new clean vehicles purchased in 2023 or after.</a:t>
            </a:r>
            <a:br>
              <a:rPr lang="en-US" dirty="0"/>
            </a:br>
            <a:r>
              <a:rPr lang="en-US" dirty="0"/>
              <a:t>International Energy Agency. (2024). </a:t>
            </a:r>
            <a:r>
              <a:rPr lang="en-US" i="1" dirty="0"/>
              <a:t>Global EV outlook 2024.</a:t>
            </a:r>
            <a:br>
              <a:rPr lang="en-US" dirty="0"/>
            </a:br>
            <a:r>
              <a:rPr lang="en-US" dirty="0"/>
              <a:t>Tesla, Inc. (2025). </a:t>
            </a:r>
            <a:r>
              <a:rPr lang="en-US" i="1" dirty="0"/>
              <a:t>Form 10-K for the fiscal year ended December 31, 2024.</a:t>
            </a:r>
            <a:r>
              <a:rPr lang="en-US" dirty="0"/>
              <a:t> U.S. Securities and Exchange Commission.</a:t>
            </a:r>
          </a:p>
        </p:txBody>
      </p:sp>
      <p:sp>
        <p:nvSpPr>
          <p:cNvPr id="4" name="Slide Number Placeholder 3">
            <a:extLst>
              <a:ext uri="{FF2B5EF4-FFF2-40B4-BE49-F238E27FC236}">
                <a16:creationId xmlns:a16="http://schemas.microsoft.com/office/drawing/2014/main" id="{8D8B3169-C725-C03D-093D-ADC87686330E}"/>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0741483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Narration:</a:t>
            </a:r>
            <a:br>
              <a:rPr lang="en-US" dirty="0"/>
            </a:br>
            <a:r>
              <a:rPr lang="en-US" dirty="0"/>
              <a:t>This slide shows my benchmarking chart, which compares Tesla with BYD, Volkswagen Group, and Ford. This is a weighted strategic scorecard, not just a financial chart. I built it using seven factors: EV scale, cost efficiency, operating profitability, battery integration, software and ADAS capability, charging ecosystem strength, and market presence.</a:t>
            </a:r>
          </a:p>
          <a:p>
            <a:r>
              <a:rPr lang="en-US" dirty="0"/>
              <a:t>The scores came from a mix of reported company data and comparative strategic judgment. For example, EV scale was based on 2024 delivery and sales figures. Profitability came from company filings and reported results. Categories like software capability, charging ecosystem, and battery integration required informed judgment based on the firms’ actual business models and positioning. Then I weighted those categories to produce the overall comparison.</a:t>
            </a:r>
          </a:p>
          <a:p>
            <a:r>
              <a:rPr lang="en-US" dirty="0"/>
              <a:t>Tesla comes out on top because it performs strongly across several dimensions at once, especially software, charging, and pure-play EV scale. BYD is very close because of its scale and cost efficiency. Volkswagen and Ford remain major competitors, but their EV economics and ecosystem advantages are weaker in this model. The reason this chart matters is that it shows Tesla still leads overall, but the gap is getting tighter, especially where rivals are converging on cost and volume.</a:t>
            </a:r>
          </a:p>
          <a:p>
            <a:r>
              <a:rPr lang="en-US" b="1" dirty="0"/>
              <a:t>Slide references:</a:t>
            </a:r>
            <a:br>
              <a:rPr lang="en-US" dirty="0"/>
            </a:br>
            <a:r>
              <a:rPr lang="en-US" dirty="0"/>
              <a:t>Ford Motor Company. (2025). </a:t>
            </a:r>
            <a:r>
              <a:rPr lang="en-US" i="1" dirty="0"/>
              <a:t>Form 10-K for the fiscal year ended December 31, 2024.</a:t>
            </a:r>
            <a:br>
              <a:rPr lang="en-US" dirty="0"/>
            </a:br>
            <a:r>
              <a:rPr lang="en-US" dirty="0"/>
              <a:t>International Energy Agency. (2024). </a:t>
            </a:r>
            <a:r>
              <a:rPr lang="en-US" i="1" dirty="0"/>
              <a:t>Global EV outlook 2024.</a:t>
            </a:r>
            <a:br>
              <a:rPr lang="en-US" dirty="0"/>
            </a:br>
            <a:r>
              <a:rPr lang="en-US" dirty="0"/>
              <a:t>Tesla, Inc. (2025, January 2). </a:t>
            </a:r>
            <a:r>
              <a:rPr lang="en-US" i="1" dirty="0"/>
              <a:t>Tesla fourth quarter 2024 production, deliveries &amp; deployments.</a:t>
            </a:r>
            <a:br>
              <a:rPr lang="en-US" dirty="0"/>
            </a:br>
            <a:r>
              <a:rPr lang="en-US" dirty="0"/>
              <a:t>Tesla, Inc. (2025). </a:t>
            </a:r>
            <a:r>
              <a:rPr lang="en-US" i="1" dirty="0"/>
              <a:t>Form 10-K for the fiscal year ended December 31, 2024.</a:t>
            </a:r>
            <a:r>
              <a:rPr lang="en-US" dirty="0"/>
              <a:t> U.S. Securities and Exchange Commission.</a:t>
            </a:r>
            <a:br>
              <a:rPr lang="en-US" dirty="0"/>
            </a:br>
            <a:r>
              <a:rPr lang="en-US" dirty="0"/>
              <a:t>Volkswagen Group. (2025). </a:t>
            </a:r>
            <a:r>
              <a:rPr lang="en-US" i="1" dirty="0"/>
              <a:t>Volkswagen Group annual results FY 2024 — key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4CE58-BBCC-46C0-EC4C-9ED034BB58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7938D4-9F75-02FE-295A-D3797D5F15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BFED0A-B45A-B8AB-BB9D-33FEF52DBD7E}"/>
              </a:ext>
            </a:extLst>
          </p:cNvPr>
          <p:cNvSpPr>
            <a:spLocks noGrp="1"/>
          </p:cNvSpPr>
          <p:nvPr>
            <p:ph type="body" idx="1"/>
          </p:nvPr>
        </p:nvSpPr>
        <p:spPr/>
        <p:txBody>
          <a:bodyPr/>
          <a:lstStyle/>
          <a:p>
            <a:r>
              <a:rPr lang="en-US" b="1" dirty="0"/>
              <a:t>Narration:</a:t>
            </a:r>
            <a:br>
              <a:rPr lang="en-US" dirty="0"/>
            </a:br>
            <a:r>
              <a:rPr lang="en-US" dirty="0"/>
              <a:t>For this slide, I’m using the value curve to show where Tesla’s competitive advantage is strongest and where rivals are beginning to close the gap. Like the other charts, this visual was built in the CPA tool using a mix of company-reported data and structured strategic judgment. Metrics like EV scale and profitability were anchored to reported results, while areas like software capability, charging ecosystem strength, and battery integration were scored comparatively based on each firm’s positioning and business model.</a:t>
            </a:r>
          </a:p>
          <a:p>
            <a:r>
              <a:rPr lang="en-US" dirty="0"/>
              <a:t>What this chart helps reveal is not just who leads overall, but where Tesla’s strategic opportunity exists. Tesla appears strongest in software and ADAS, charging ecosystem strength, and overall market presence. At the same time, the value curve also shows where pressure is building, especially around cost efficiency, profitability under price competition, and the risk of convergence as rivals improve scale and execution.</a:t>
            </a:r>
          </a:p>
          <a:p>
            <a:r>
              <a:rPr lang="en-US" dirty="0"/>
              <a:t>That matters because it helps identify the strategic opportunity more clearly. Tesla should not try to compete only on price. Instead, this value curve supports a differentiation-with-scale strategy: continue lowering structural cost and improving localization, while also expanding the areas where Tesla still has harder-to-copy advantages, especially software, charging access, and ecosystem-based revenue streams. In that sense, this slide serves as the bridge between the competitive benchmarking and the SWOT-based recommendation that follows.</a:t>
            </a:r>
          </a:p>
          <a:p>
            <a:r>
              <a:rPr lang="en-US" b="1" dirty="0"/>
              <a:t>Slide references:</a:t>
            </a:r>
            <a:br>
              <a:rPr lang="en-US" dirty="0"/>
            </a:br>
            <a:r>
              <a:rPr lang="en-US" dirty="0"/>
              <a:t>Ford Motor Company. (2025). </a:t>
            </a:r>
            <a:r>
              <a:rPr lang="en-US" i="1" dirty="0"/>
              <a:t>Form 10-K for the fiscal year ended December 31, 2024.</a:t>
            </a:r>
            <a:br>
              <a:rPr lang="en-US" dirty="0"/>
            </a:br>
            <a:r>
              <a:rPr lang="en-US" dirty="0"/>
              <a:t>International Energy Agency. (2024). </a:t>
            </a:r>
            <a:r>
              <a:rPr lang="en-US" i="1" dirty="0"/>
              <a:t>Global EV outlook 2024.</a:t>
            </a:r>
            <a:br>
              <a:rPr lang="en-US" dirty="0"/>
            </a:br>
            <a:r>
              <a:rPr lang="en-US" dirty="0"/>
              <a:t>Tesla, Inc. (2025). </a:t>
            </a:r>
            <a:r>
              <a:rPr lang="en-US" i="1" dirty="0"/>
              <a:t>Form 10-K for the fiscal year ended December 31, 2024.</a:t>
            </a:r>
            <a:r>
              <a:rPr lang="en-US" dirty="0"/>
              <a:t> U.S. Securities and Exchange Commission.</a:t>
            </a:r>
            <a:br>
              <a:rPr lang="en-US" dirty="0"/>
            </a:br>
            <a:r>
              <a:rPr lang="en-US" dirty="0"/>
              <a:t>Volkswagen Group. (2025). </a:t>
            </a:r>
            <a:r>
              <a:rPr lang="en-US" i="1" dirty="0"/>
              <a:t>Volkswagen Group annual results FY 2024 — key figures.</a:t>
            </a:r>
            <a:endParaRPr lang="en-US" dirty="0"/>
          </a:p>
        </p:txBody>
      </p:sp>
      <p:sp>
        <p:nvSpPr>
          <p:cNvPr id="4" name="Slide Number Placeholder 3">
            <a:extLst>
              <a:ext uri="{FF2B5EF4-FFF2-40B4-BE49-F238E27FC236}">
                <a16:creationId xmlns:a16="http://schemas.microsoft.com/office/drawing/2014/main" id="{4ABF3666-0A99-30CE-BD14-DB05C4AF5AB5}"/>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5081271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4 – SWOT / Strategic Recommendation</a:t>
            </a:r>
          </a:p>
          <a:p>
            <a:r>
              <a:rPr lang="en-US" b="1" dirty="0"/>
              <a:t>Narration:</a:t>
            </a:r>
            <a:br>
              <a:rPr lang="en-US" dirty="0"/>
            </a:br>
            <a:r>
              <a:rPr lang="en-US" dirty="0"/>
              <a:t>For this slide, I’m using the SWOT synthesis to connect the earlier analysis to my recommendation. Like the other visuals, this SWOT was not copied from a published source. I built it by synthesizing the evidence from Tesla’s 2024 10-K, the IEA EV outlook, IRS policy guidance, European Commission trade developments, and the competitor analysis from the previous slides.</a:t>
            </a:r>
          </a:p>
          <a:p>
            <a:r>
              <a:rPr lang="en-US" dirty="0"/>
              <a:t>The strengths reflect where Tesla is still strongest, especially software capability, charging ecosystem strength, and brand visibility. The weaknesses reflect issues like margin sensitivity, product concentration, and exposure to trade and policy shifts. The opportunities come from areas such as software monetization, charging access, and energy storage growth. The threats come from price competition, especially in China, policy changes, and regulatory scrutiny around ADAS and safety.</a:t>
            </a:r>
          </a:p>
          <a:p>
            <a:r>
              <a:rPr lang="en-US" dirty="0"/>
              <a:t>This SWOT supports my recommendation that Tesla should pursue a differentiation-with-scale strategy. In other words, Tesla should keep driving down cost and localizing supply chains, but at the same time continue building the harder-to-copy parts of its advantage, especially software, charging, and energy-related revenue streams. The biggest implementation challenge is doing both at once without hurting quality, compliance, or brand trust.</a:t>
            </a:r>
          </a:p>
          <a:p>
            <a:endParaRPr lang="en-US" b="1" dirty="0"/>
          </a:p>
          <a:p>
            <a:r>
              <a:rPr lang="en-US" b="1" dirty="0"/>
              <a:t>Closing:</a:t>
            </a:r>
          </a:p>
          <a:p>
            <a:r>
              <a:rPr lang="en-US" sz="1200" b="0" i="0" kern="1200" dirty="0">
                <a:solidFill>
                  <a:schemeClr val="tx1"/>
                </a:solidFill>
                <a:effectLst/>
                <a:latin typeface="+mn-lt"/>
                <a:ea typeface="+mn-ea"/>
                <a:cs typeface="+mn-cs"/>
              </a:rPr>
              <a:t>Thank you. Overall, my analysis shows that Tesla still holds meaningful strategic advantages, but sustaining them will require balancing cost discipline with continued investment in the differentiated capabilities that competitors will have the hardest time replicating.</a:t>
            </a:r>
          </a:p>
          <a:p>
            <a:endParaRPr lang="en-US" b="1" dirty="0"/>
          </a:p>
          <a:p>
            <a:r>
              <a:rPr lang="en-US" b="1" dirty="0"/>
              <a:t>Slide references:</a:t>
            </a:r>
            <a:br>
              <a:rPr lang="en-US" dirty="0"/>
            </a:br>
            <a:r>
              <a:rPr lang="en-US" dirty="0"/>
              <a:t>European Commission. (2024, December 12). </a:t>
            </a:r>
            <a:r>
              <a:rPr lang="en-US" i="1" dirty="0"/>
              <a:t>EU Commission imposes countervailing duties on imports of battery electric vehicles (BEVs) from China.</a:t>
            </a:r>
            <a:br>
              <a:rPr lang="en-US" dirty="0"/>
            </a:br>
            <a:r>
              <a:rPr lang="en-US" dirty="0"/>
              <a:t>Internal Revenue Service. (2025, November 13). </a:t>
            </a:r>
            <a:r>
              <a:rPr lang="en-US" i="1" dirty="0"/>
              <a:t>Credits for new clean vehicles purchased in 2023 or after.</a:t>
            </a:r>
            <a:br>
              <a:rPr lang="en-US" dirty="0"/>
            </a:br>
            <a:r>
              <a:rPr lang="en-US" dirty="0"/>
              <a:t>International Energy Agency. (2024). </a:t>
            </a:r>
            <a:r>
              <a:rPr lang="en-US" i="1" dirty="0"/>
              <a:t>Global EV outlook 2024.</a:t>
            </a:r>
            <a:br>
              <a:rPr lang="en-US" dirty="0"/>
            </a:br>
            <a:r>
              <a:rPr lang="en-US" dirty="0"/>
              <a:t>Tesla, Inc. (2025). </a:t>
            </a:r>
            <a:r>
              <a:rPr lang="en-US" i="1" dirty="0"/>
              <a:t>Form 10-K for the fiscal year ended December 31, 2024.</a:t>
            </a:r>
            <a:r>
              <a:rPr lang="en-US" dirty="0"/>
              <a:t> U.S. Securities and Exchange Commission.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91872-1BEF-C762-8DE1-659C5F0319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DC48C4-F124-A303-C6D0-A574D8B422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BDEE8C-141A-A852-B571-1E410D8E85A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8E5AF30-195A-05D7-E9E7-9166C615A4D3}"/>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3497442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2057400" y="218065"/>
            <a:ext cx="9898379" cy="1188717"/>
          </a:xfrm>
          <a:prstGeom prst="rect">
            <a:avLst/>
          </a:prstGeom>
          <a:noFill/>
          <a:ln/>
        </p:spPr>
        <p:txBody>
          <a:bodyPr wrap="square" lIns="0" tIns="0" rIns="0" bIns="0" rtlCol="0" anchor="ctr"/>
          <a:lstStyle/>
          <a:p>
            <a:pPr marL="0" indent="0">
              <a:buNone/>
            </a:pPr>
            <a:r>
              <a:rPr lang="en-US" sz="4000" b="1" dirty="0">
                <a:solidFill>
                  <a:srgbClr val="2F73C8"/>
                </a:solidFill>
                <a:latin typeface="Aptos" pitchFamily="34" charset="0"/>
                <a:ea typeface="Aptos" pitchFamily="34" charset="-122"/>
                <a:cs typeface="Aptos" pitchFamily="34" charset="-120"/>
              </a:rPr>
              <a:t>Strategic Analysis Peer Review Forum</a:t>
            </a:r>
            <a:endParaRPr lang="en-US" sz="4000" dirty="0"/>
          </a:p>
        </p:txBody>
      </p:sp>
      <p:sp>
        <p:nvSpPr>
          <p:cNvPr id="5" name="Shape 3"/>
          <p:cNvSpPr/>
          <p:nvPr/>
        </p:nvSpPr>
        <p:spPr>
          <a:xfrm>
            <a:off x="516018" y="2332282"/>
            <a:ext cx="10835640" cy="0"/>
          </a:xfrm>
          <a:prstGeom prst="line">
            <a:avLst/>
          </a:prstGeom>
          <a:noFill/>
          <a:ln w="15240">
            <a:solidFill>
              <a:srgbClr val="D9E3F0"/>
            </a:solidFill>
            <a:prstDash val="solid"/>
          </a:ln>
        </p:spPr>
        <p:txBody>
          <a:bodyPr/>
          <a:lstStyle/>
          <a:p>
            <a:endParaRPr lang="en-US" sz="7200"/>
          </a:p>
        </p:txBody>
      </p:sp>
      <p:sp>
        <p:nvSpPr>
          <p:cNvPr id="15" name="Text 1">
            <a:extLst>
              <a:ext uri="{FF2B5EF4-FFF2-40B4-BE49-F238E27FC236}">
                <a16:creationId xmlns:a16="http://schemas.microsoft.com/office/drawing/2014/main" id="{3A93A91C-4B23-95A1-68E6-A323DE5C9437}"/>
              </a:ext>
            </a:extLst>
          </p:cNvPr>
          <p:cNvSpPr/>
          <p:nvPr/>
        </p:nvSpPr>
        <p:spPr>
          <a:xfrm>
            <a:off x="1401699" y="1588489"/>
            <a:ext cx="9160002" cy="1188717"/>
          </a:xfrm>
          <a:prstGeom prst="rect">
            <a:avLst/>
          </a:prstGeom>
          <a:noFill/>
          <a:ln/>
        </p:spPr>
        <p:txBody>
          <a:bodyPr wrap="square" lIns="0" tIns="0" rIns="0" bIns="0" rtlCol="0" anchor="ctr"/>
          <a:lstStyle/>
          <a:p>
            <a:pPr algn="ctr"/>
            <a:r>
              <a:rPr lang="en-US" b="1" dirty="0"/>
              <a:t>Executive Briefing</a:t>
            </a:r>
          </a:p>
        </p:txBody>
      </p:sp>
      <p:sp>
        <p:nvSpPr>
          <p:cNvPr id="17" name="TextBox 16">
            <a:extLst>
              <a:ext uri="{FF2B5EF4-FFF2-40B4-BE49-F238E27FC236}">
                <a16:creationId xmlns:a16="http://schemas.microsoft.com/office/drawing/2014/main" id="{860A85D6-8C77-FD57-9A30-C2CEC8BDB296}"/>
              </a:ext>
            </a:extLst>
          </p:cNvPr>
          <p:cNvSpPr txBox="1"/>
          <p:nvPr/>
        </p:nvSpPr>
        <p:spPr>
          <a:xfrm>
            <a:off x="3048953" y="2551837"/>
            <a:ext cx="6097904" cy="1754326"/>
          </a:xfrm>
          <a:prstGeom prst="rect">
            <a:avLst/>
          </a:prstGeom>
          <a:noFill/>
        </p:spPr>
        <p:txBody>
          <a:bodyPr wrap="square">
            <a:spAutoFit/>
          </a:bodyPr>
          <a:lstStyle/>
          <a:p>
            <a:pPr algn="ctr"/>
            <a:r>
              <a:rPr lang="en-US" sz="1800" dirty="0"/>
              <a:t>Unit </a:t>
            </a:r>
            <a:r>
              <a:rPr lang="en-US" dirty="0"/>
              <a:t>7</a:t>
            </a:r>
            <a:r>
              <a:rPr lang="en-US" sz="1800" dirty="0"/>
              <a:t>: </a:t>
            </a:r>
            <a:r>
              <a:rPr lang="en-US" dirty="0"/>
              <a:t>Comprehensive Strategic Management Analysis</a:t>
            </a:r>
            <a:endParaRPr lang="en-US" sz="1800" dirty="0"/>
          </a:p>
          <a:p>
            <a:pPr algn="ctr"/>
            <a:r>
              <a:rPr lang="en-US" sz="1800" dirty="0"/>
              <a:t>Laznier Mederos Santos</a:t>
            </a:r>
          </a:p>
          <a:p>
            <a:pPr algn="ctr"/>
            <a:r>
              <a:rPr lang="en-US" sz="1800" dirty="0"/>
              <a:t>University of Maryland Global Campus</a:t>
            </a:r>
          </a:p>
          <a:p>
            <a:pPr algn="ctr"/>
            <a:r>
              <a:rPr lang="en-US" sz="1800" dirty="0"/>
              <a:t>MGMT 670 Strategic Management Capstone</a:t>
            </a:r>
          </a:p>
          <a:p>
            <a:pPr algn="ctr"/>
            <a:r>
              <a:rPr lang="en-US" sz="1800" dirty="0"/>
              <a:t>Dr. R. Dool</a:t>
            </a:r>
          </a:p>
          <a:p>
            <a:pPr algn="ctr"/>
            <a:r>
              <a:rPr lang="en-US" sz="1800" dirty="0"/>
              <a:t>March 11, 2026</a:t>
            </a:r>
          </a:p>
        </p:txBody>
      </p:sp>
      <p:sp>
        <p:nvSpPr>
          <p:cNvPr id="21" name="Text 1">
            <a:extLst>
              <a:ext uri="{FF2B5EF4-FFF2-40B4-BE49-F238E27FC236}">
                <a16:creationId xmlns:a16="http://schemas.microsoft.com/office/drawing/2014/main" id="{F288D05F-DD25-4C38-F5AD-A23AA59BB594}"/>
              </a:ext>
            </a:extLst>
          </p:cNvPr>
          <p:cNvSpPr/>
          <p:nvPr/>
        </p:nvSpPr>
        <p:spPr>
          <a:xfrm>
            <a:off x="5185411" y="950979"/>
            <a:ext cx="1706880" cy="1188717"/>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lIns="0" tIns="0" rIns="0" bIns="0" rtlCol="0" anchor="ctr"/>
          <a:lstStyle/>
          <a:p>
            <a:pPr marL="0" indent="0">
              <a:buNone/>
            </a:pPr>
            <a:r>
              <a:rPr lang="en-US" sz="4800" b="1" dirty="0">
                <a:solidFill>
                  <a:srgbClr val="2F73C8"/>
                </a:solidFill>
                <a:latin typeface="Aptos" pitchFamily="34" charset="0"/>
                <a:ea typeface="Aptos" pitchFamily="34" charset="-122"/>
                <a:cs typeface="Aptos" pitchFamily="34" charset="-120"/>
              </a:rPr>
              <a:t>Tesla</a:t>
            </a:r>
            <a:endParaRPr lang="en-US" sz="4800" dirty="0"/>
          </a:p>
        </p:txBody>
      </p:sp>
    </p:spTree>
  </p:cSld>
  <p:clrMapOvr>
    <a:masterClrMapping/>
  </p:clrMapOvr>
  <mc:AlternateContent xmlns:mc="http://schemas.openxmlformats.org/markup-compatibility/2006" xmlns:p14="http://schemas.microsoft.com/office/powerpoint/2010/main">
    <mc:Choice Requires="p14">
      <p:transition spd="slow" p14:dur="2000" advTm="14794"/>
    </mc:Choice>
    <mc:Fallback xmlns="">
      <p:transition spd="slow" advTm="14794"/>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89040DF-A074-966B-836D-059312391F2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B5F7092-67E8-9339-C715-2EF2080B1A1F}"/>
              </a:ext>
            </a:extLst>
          </p:cNvPr>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Text 1">
            <a:extLst>
              <a:ext uri="{FF2B5EF4-FFF2-40B4-BE49-F238E27FC236}">
                <a16:creationId xmlns:a16="http://schemas.microsoft.com/office/drawing/2014/main" id="{8390DEE4-C044-0B9C-C299-1E7F4DF965B8}"/>
              </a:ext>
            </a:extLst>
          </p:cNvPr>
          <p:cNvSpPr/>
          <p:nvPr/>
        </p:nvSpPr>
        <p:spPr>
          <a:xfrm>
            <a:off x="658368" y="219457"/>
            <a:ext cx="2926080" cy="201168"/>
          </a:xfrm>
          <a:prstGeom prst="rect">
            <a:avLst/>
          </a:prstGeom>
          <a:noFill/>
          <a:ln/>
        </p:spPr>
        <p:txBody>
          <a:bodyPr wrap="square" lIns="0" tIns="0" rIns="0" bIns="0" rtlCol="0" anchor="ctr"/>
          <a:lstStyle/>
          <a:p>
            <a:pPr marL="0" indent="0">
              <a:buNone/>
            </a:pPr>
            <a:r>
              <a:rPr lang="en-US" sz="1000" b="1" dirty="0">
                <a:solidFill>
                  <a:srgbClr val="2F73C8"/>
                </a:solidFill>
                <a:latin typeface="Aptos" pitchFamily="34" charset="0"/>
                <a:ea typeface="Aptos" pitchFamily="34" charset="-122"/>
                <a:cs typeface="Aptos" pitchFamily="34" charset="-120"/>
              </a:rPr>
              <a:t>SITUATION ANALYSIS</a:t>
            </a:r>
            <a:endParaRPr lang="en-US" sz="1000" dirty="0"/>
          </a:p>
        </p:txBody>
      </p:sp>
      <p:sp>
        <p:nvSpPr>
          <p:cNvPr id="4" name="Text 2">
            <a:extLst>
              <a:ext uri="{FF2B5EF4-FFF2-40B4-BE49-F238E27FC236}">
                <a16:creationId xmlns:a16="http://schemas.microsoft.com/office/drawing/2014/main" id="{6DAE6D5A-3178-F37D-FF56-6D62EB8FA891}"/>
              </a:ext>
            </a:extLst>
          </p:cNvPr>
          <p:cNvSpPr/>
          <p:nvPr/>
        </p:nvSpPr>
        <p:spPr>
          <a:xfrm>
            <a:off x="658368" y="530352"/>
            <a:ext cx="7863840" cy="438912"/>
          </a:xfrm>
          <a:prstGeom prst="rect">
            <a:avLst/>
          </a:prstGeom>
          <a:noFill/>
          <a:ln/>
          <a:effectLst>
            <a:outerShdw blurRad="12700" dist="2540" dir="2700000" algn="bl" rotWithShape="0">
              <a:srgbClr val="000000">
                <a:alpha val="8000"/>
              </a:srgbClr>
            </a:outerShdw>
          </a:effectLst>
        </p:spPr>
        <p:txBody>
          <a:bodyPr wrap="square" lIns="0" tIns="0" rIns="0" bIns="0" rtlCol="0" anchor="ctr"/>
          <a:lstStyle/>
          <a:p>
            <a:pPr marL="0" indent="0">
              <a:buNone/>
            </a:pPr>
            <a:r>
              <a:rPr lang="en-US" sz="2400" b="1" dirty="0">
                <a:solidFill>
                  <a:srgbClr val="123A63"/>
                </a:solidFill>
                <a:latin typeface="Aptos Display" pitchFamily="34" charset="0"/>
                <a:ea typeface="Aptos Display" pitchFamily="34" charset="-122"/>
                <a:cs typeface="Aptos Display" pitchFamily="34" charset="-120"/>
              </a:rPr>
              <a:t>External Environment Signals Growth Potential — and Execution Risk</a:t>
            </a:r>
            <a:endParaRPr lang="en-US" sz="2400" dirty="0"/>
          </a:p>
        </p:txBody>
      </p:sp>
      <p:sp>
        <p:nvSpPr>
          <p:cNvPr id="5" name="Shape 3">
            <a:extLst>
              <a:ext uri="{FF2B5EF4-FFF2-40B4-BE49-F238E27FC236}">
                <a16:creationId xmlns:a16="http://schemas.microsoft.com/office/drawing/2014/main" id="{9ADC92C7-9899-5A82-E816-929798119C64}"/>
              </a:ext>
            </a:extLst>
          </p:cNvPr>
          <p:cNvSpPr/>
          <p:nvPr/>
        </p:nvSpPr>
        <p:spPr>
          <a:xfrm>
            <a:off x="658368" y="1112812"/>
            <a:ext cx="10835640" cy="0"/>
          </a:xfrm>
          <a:prstGeom prst="line">
            <a:avLst/>
          </a:prstGeom>
          <a:noFill/>
          <a:ln w="15240">
            <a:solidFill>
              <a:srgbClr val="D9E3F0"/>
            </a:solidFill>
            <a:prstDash val="solid"/>
          </a:ln>
        </p:spPr>
        <p:txBody>
          <a:bodyPr/>
          <a:lstStyle/>
          <a:p>
            <a:endParaRPr lang="en-US"/>
          </a:p>
        </p:txBody>
      </p:sp>
      <p:sp>
        <p:nvSpPr>
          <p:cNvPr id="6" name="Text 4">
            <a:extLst>
              <a:ext uri="{FF2B5EF4-FFF2-40B4-BE49-F238E27FC236}">
                <a16:creationId xmlns:a16="http://schemas.microsoft.com/office/drawing/2014/main" id="{A507A1EE-D117-44D2-490B-1A7134128DA1}"/>
              </a:ext>
            </a:extLst>
          </p:cNvPr>
          <p:cNvSpPr/>
          <p:nvPr/>
        </p:nvSpPr>
        <p:spPr>
          <a:xfrm>
            <a:off x="11109960" y="310896"/>
            <a:ext cx="384048" cy="256032"/>
          </a:xfrm>
          <a:prstGeom prst="rect">
            <a:avLst/>
          </a:prstGeom>
          <a:noFill/>
          <a:ln/>
        </p:spPr>
        <p:txBody>
          <a:bodyPr wrap="square" lIns="0" tIns="0" rIns="0" bIns="0" rtlCol="0" anchor="ctr"/>
          <a:lstStyle/>
          <a:p>
            <a:pPr marL="0" indent="0" algn="r">
              <a:buNone/>
            </a:pPr>
            <a:r>
              <a:rPr lang="en-US" sz="1100" dirty="0">
                <a:solidFill>
                  <a:srgbClr val="64748B"/>
                </a:solidFill>
                <a:latin typeface="Aptos" pitchFamily="34" charset="0"/>
                <a:ea typeface="Aptos" pitchFamily="34" charset="-122"/>
                <a:cs typeface="Aptos" pitchFamily="34" charset="-120"/>
              </a:rPr>
              <a:t>1</a:t>
            </a:r>
            <a:endParaRPr lang="en-US" sz="1100" dirty="0"/>
          </a:p>
        </p:txBody>
      </p:sp>
      <p:sp>
        <p:nvSpPr>
          <p:cNvPr id="7" name="Shape 5">
            <a:extLst>
              <a:ext uri="{FF2B5EF4-FFF2-40B4-BE49-F238E27FC236}">
                <a16:creationId xmlns:a16="http://schemas.microsoft.com/office/drawing/2014/main" id="{B2431D1D-19AF-54F0-C19E-BA2C24CF6535}"/>
              </a:ext>
            </a:extLst>
          </p:cNvPr>
          <p:cNvSpPr/>
          <p:nvPr/>
        </p:nvSpPr>
        <p:spPr>
          <a:xfrm>
            <a:off x="658368" y="1207008"/>
            <a:ext cx="5074920" cy="5212080"/>
          </a:xfrm>
          <a:prstGeom prst="roundRect">
            <a:avLst>
              <a:gd name="adj" fmla="val 1441"/>
            </a:avLst>
          </a:prstGeom>
          <a:solidFill>
            <a:srgbClr val="F9FBFE"/>
          </a:solidFill>
          <a:ln w="12700">
            <a:solidFill>
              <a:srgbClr val="D9E3F0"/>
            </a:solidFill>
            <a:prstDash val="solid"/>
          </a:ln>
        </p:spPr>
        <p:txBody>
          <a:bodyPr/>
          <a:lstStyle/>
          <a:p>
            <a:endParaRPr lang="en-US"/>
          </a:p>
        </p:txBody>
      </p:sp>
      <p:sp>
        <p:nvSpPr>
          <p:cNvPr id="8" name="Text 6">
            <a:extLst>
              <a:ext uri="{FF2B5EF4-FFF2-40B4-BE49-F238E27FC236}">
                <a16:creationId xmlns:a16="http://schemas.microsoft.com/office/drawing/2014/main" id="{B5D17428-5CD9-DB2D-BFFB-B9762C174B64}"/>
              </a:ext>
            </a:extLst>
          </p:cNvPr>
          <p:cNvSpPr/>
          <p:nvPr/>
        </p:nvSpPr>
        <p:spPr>
          <a:xfrm>
            <a:off x="859536" y="1371600"/>
            <a:ext cx="4672584" cy="274320"/>
          </a:xfrm>
          <a:prstGeom prst="rect">
            <a:avLst/>
          </a:prstGeom>
          <a:noFill/>
          <a:ln/>
        </p:spPr>
        <p:txBody>
          <a:bodyPr wrap="square" lIns="0" tIns="0" rIns="0" bIns="0" rtlCol="0" anchor="ctr"/>
          <a:lstStyle/>
          <a:p>
            <a:pPr marL="0" indent="0">
              <a:buNone/>
            </a:pPr>
            <a:r>
              <a:rPr lang="en-US" sz="1400" b="1" dirty="0">
                <a:solidFill>
                  <a:srgbClr val="123A63"/>
                </a:solidFill>
                <a:latin typeface="Aptos" pitchFamily="34" charset="0"/>
                <a:ea typeface="Aptos" pitchFamily="34" charset="-122"/>
                <a:cs typeface="Aptos" pitchFamily="34" charset="-120"/>
              </a:rPr>
              <a:t>Key insight from the environmental scan</a:t>
            </a:r>
            <a:endParaRPr lang="en-US" sz="1400" dirty="0"/>
          </a:p>
        </p:txBody>
      </p:sp>
      <p:sp>
        <p:nvSpPr>
          <p:cNvPr id="9" name="Text 7">
            <a:extLst>
              <a:ext uri="{FF2B5EF4-FFF2-40B4-BE49-F238E27FC236}">
                <a16:creationId xmlns:a16="http://schemas.microsoft.com/office/drawing/2014/main" id="{BCF63D92-8C4D-8779-D665-B5ACC223670E}"/>
              </a:ext>
            </a:extLst>
          </p:cNvPr>
          <p:cNvSpPr/>
          <p:nvPr/>
        </p:nvSpPr>
        <p:spPr>
          <a:xfrm>
            <a:off x="859536" y="1737360"/>
            <a:ext cx="4672584" cy="3767328"/>
          </a:xfrm>
          <a:prstGeom prst="rect">
            <a:avLst/>
          </a:prstGeom>
          <a:noFill/>
          <a:ln/>
        </p:spPr>
        <p:txBody>
          <a:bodyPr wrap="square" lIns="254" tIns="254" rIns="254" bIns="254" rtlCol="0" anchor="t"/>
          <a:lstStyle/>
          <a:p>
            <a:pPr marL="152400" indent="-152400">
              <a:buSzPct val="100000"/>
              <a:buChar char="•"/>
            </a:pPr>
            <a:r>
              <a:rPr lang="en-US" sz="1800" dirty="0">
                <a:solidFill>
                  <a:srgbClr val="1F2937"/>
                </a:solidFill>
                <a:latin typeface="Aptos" pitchFamily="34" charset="0"/>
                <a:ea typeface="Aptos" pitchFamily="34" charset="-122"/>
                <a:cs typeface="Aptos" pitchFamily="34" charset="-120"/>
              </a:rPr>
              <a:t>EV adoption continues to grow globally, supported by decarbonization goals and policy incentives.</a:t>
            </a:r>
            <a:endParaRPr lang="en-US" sz="1800" dirty="0"/>
          </a:p>
          <a:p>
            <a:pPr marL="152400" indent="-152400">
              <a:buSzPct val="100000"/>
              <a:buChar char="•"/>
            </a:pPr>
            <a:r>
              <a:rPr lang="en-US" sz="1800" dirty="0">
                <a:solidFill>
                  <a:srgbClr val="1F2937"/>
                </a:solidFill>
                <a:latin typeface="Aptos" pitchFamily="34" charset="0"/>
                <a:ea typeface="Aptos" pitchFamily="34" charset="-122"/>
                <a:cs typeface="Aptos" pitchFamily="34" charset="-120"/>
              </a:rPr>
              <a:t>However, trade barriers, tax-credit eligibility rules, and affordability pressures make demand and margin realization uneven by region.</a:t>
            </a:r>
            <a:endParaRPr lang="en-US" sz="1800" dirty="0"/>
          </a:p>
          <a:p>
            <a:pPr marL="152400" indent="-152400">
              <a:buSzPct val="100000"/>
              <a:buChar char="•"/>
            </a:pPr>
            <a:r>
              <a:rPr lang="en-US" sz="1800" dirty="0">
                <a:solidFill>
                  <a:srgbClr val="1F2937"/>
                </a:solidFill>
                <a:latin typeface="Aptos" pitchFamily="34" charset="0"/>
                <a:ea typeface="Aptos" pitchFamily="34" charset="-122"/>
                <a:cs typeface="Aptos" pitchFamily="34" charset="-120"/>
              </a:rPr>
              <a:t>For Tesla, the strategic issue is not whether demand exists, but whether it can convert scale into durable, regulation-ready profit.</a:t>
            </a:r>
            <a:endParaRPr lang="en-US" sz="1800" dirty="0"/>
          </a:p>
        </p:txBody>
      </p:sp>
      <p:sp>
        <p:nvSpPr>
          <p:cNvPr id="10" name="Shape 8">
            <a:extLst>
              <a:ext uri="{FF2B5EF4-FFF2-40B4-BE49-F238E27FC236}">
                <a16:creationId xmlns:a16="http://schemas.microsoft.com/office/drawing/2014/main" id="{657D4F16-A2EF-6476-151A-EEAE2E2B808B}"/>
              </a:ext>
            </a:extLst>
          </p:cNvPr>
          <p:cNvSpPr/>
          <p:nvPr/>
        </p:nvSpPr>
        <p:spPr>
          <a:xfrm>
            <a:off x="822960" y="5815584"/>
            <a:ext cx="4745736" cy="384048"/>
          </a:xfrm>
          <a:prstGeom prst="roundRect">
            <a:avLst>
              <a:gd name="adj" fmla="val 14286"/>
            </a:avLst>
          </a:prstGeom>
          <a:solidFill>
            <a:srgbClr val="EAF3FF"/>
          </a:solidFill>
          <a:ln w="12700">
            <a:solidFill>
              <a:srgbClr val="EAF3FF">
                <a:alpha val="0"/>
              </a:srgbClr>
            </a:solidFill>
            <a:prstDash val="solid"/>
          </a:ln>
        </p:spPr>
        <p:txBody>
          <a:bodyPr/>
          <a:lstStyle/>
          <a:p>
            <a:endParaRPr lang="en-US"/>
          </a:p>
        </p:txBody>
      </p:sp>
      <p:sp>
        <p:nvSpPr>
          <p:cNvPr id="11" name="Text 9">
            <a:extLst>
              <a:ext uri="{FF2B5EF4-FFF2-40B4-BE49-F238E27FC236}">
                <a16:creationId xmlns:a16="http://schemas.microsoft.com/office/drawing/2014/main" id="{BE3D956B-00E6-4AF9-0AB0-4A3F69CBB6D1}"/>
              </a:ext>
            </a:extLst>
          </p:cNvPr>
          <p:cNvSpPr/>
          <p:nvPr/>
        </p:nvSpPr>
        <p:spPr>
          <a:xfrm>
            <a:off x="950976" y="5888736"/>
            <a:ext cx="4489704" cy="219456"/>
          </a:xfrm>
          <a:prstGeom prst="rect">
            <a:avLst/>
          </a:prstGeom>
          <a:noFill/>
          <a:ln/>
        </p:spPr>
        <p:txBody>
          <a:bodyPr wrap="square" lIns="0" tIns="0" rIns="0" bIns="0" rtlCol="0" anchor="ctr">
            <a:normAutofit fontScale="70000" lnSpcReduction="20000"/>
          </a:bodyPr>
          <a:lstStyle/>
          <a:p>
            <a:pPr marL="0" indent="0">
              <a:buNone/>
            </a:pPr>
            <a:r>
              <a:rPr lang="en-US" sz="1150" b="1" dirty="0">
                <a:solidFill>
                  <a:srgbClr val="123A63"/>
                </a:solidFill>
                <a:latin typeface="Aptos" pitchFamily="34" charset="0"/>
                <a:ea typeface="Aptos" pitchFamily="34" charset="-122"/>
                <a:cs typeface="Aptos" pitchFamily="34" charset="-120"/>
              </a:rPr>
              <a:t>Takeaway: Favorable EV tailwinds remain real, but policy and cost conditions raise the bar for execution.</a:t>
            </a:r>
            <a:endParaRPr lang="en-US" sz="1150" dirty="0"/>
          </a:p>
        </p:txBody>
      </p:sp>
      <p:sp>
        <p:nvSpPr>
          <p:cNvPr id="12" name="Shape 10">
            <a:extLst>
              <a:ext uri="{FF2B5EF4-FFF2-40B4-BE49-F238E27FC236}">
                <a16:creationId xmlns:a16="http://schemas.microsoft.com/office/drawing/2014/main" id="{151BC78D-8AA6-934C-9BDA-003F3207ED50}"/>
              </a:ext>
            </a:extLst>
          </p:cNvPr>
          <p:cNvSpPr/>
          <p:nvPr/>
        </p:nvSpPr>
        <p:spPr>
          <a:xfrm>
            <a:off x="6016752" y="1207008"/>
            <a:ext cx="5513832" cy="5212080"/>
          </a:xfrm>
          <a:prstGeom prst="roundRect">
            <a:avLst>
              <a:gd name="adj" fmla="val 1404"/>
            </a:avLst>
          </a:prstGeom>
          <a:solidFill>
            <a:srgbClr val="F9FBFE"/>
          </a:solidFill>
          <a:ln w="12700">
            <a:solidFill>
              <a:srgbClr val="D9E3F0"/>
            </a:solidFill>
            <a:prstDash val="solid"/>
          </a:ln>
        </p:spPr>
        <p:txBody>
          <a:bodyPr/>
          <a:lstStyle/>
          <a:p>
            <a:endParaRPr lang="en-US"/>
          </a:p>
        </p:txBody>
      </p:sp>
      <p:pic>
        <p:nvPicPr>
          <p:cNvPr id="13" name="Image 0" descr="/mnt/data/tesla_body_deck/pestel.png">
            <a:extLst>
              <a:ext uri="{FF2B5EF4-FFF2-40B4-BE49-F238E27FC236}">
                <a16:creationId xmlns:a16="http://schemas.microsoft.com/office/drawing/2014/main" id="{6E173880-733B-1B4A-CF55-766FDE6EA347}"/>
              </a:ext>
            </a:extLst>
          </p:cNvPr>
          <p:cNvPicPr>
            <a:picLocks noChangeAspect="1"/>
          </p:cNvPicPr>
          <p:nvPr/>
        </p:nvPicPr>
        <p:blipFill>
          <a:blip r:embed="rId3"/>
          <a:stretch>
            <a:fillRect/>
          </a:stretch>
        </p:blipFill>
        <p:spPr>
          <a:xfrm>
            <a:off x="6163056" y="1979683"/>
            <a:ext cx="5221224" cy="3428986"/>
          </a:xfrm>
          <a:prstGeom prst="rect">
            <a:avLst/>
          </a:prstGeom>
        </p:spPr>
      </p:pic>
      <p:sp>
        <p:nvSpPr>
          <p:cNvPr id="14" name="Text 11">
            <a:extLst>
              <a:ext uri="{FF2B5EF4-FFF2-40B4-BE49-F238E27FC236}">
                <a16:creationId xmlns:a16="http://schemas.microsoft.com/office/drawing/2014/main" id="{6819E857-BCA4-E041-F732-6B352AE477C2}"/>
              </a:ext>
            </a:extLst>
          </p:cNvPr>
          <p:cNvSpPr/>
          <p:nvPr/>
        </p:nvSpPr>
        <p:spPr>
          <a:xfrm>
            <a:off x="6181344" y="6108192"/>
            <a:ext cx="5184648" cy="146304"/>
          </a:xfrm>
          <a:prstGeom prst="rect">
            <a:avLst/>
          </a:prstGeom>
          <a:noFill/>
          <a:ln/>
        </p:spPr>
        <p:txBody>
          <a:bodyPr wrap="square" lIns="0" tIns="0" rIns="0" bIns="0" rtlCol="0" anchor="ctr"/>
          <a:lstStyle/>
          <a:p>
            <a:pPr marL="0" indent="0" algn="r">
              <a:buNone/>
            </a:pPr>
            <a:r>
              <a:rPr lang="en-US" sz="950" i="1" dirty="0">
                <a:solidFill>
                  <a:srgbClr val="64748B"/>
                </a:solidFill>
                <a:latin typeface="Aptos" pitchFamily="34" charset="0"/>
                <a:ea typeface="Aptos" pitchFamily="34" charset="-122"/>
                <a:cs typeface="Aptos" pitchFamily="34" charset="-120"/>
              </a:rPr>
              <a:t>CPA-generated PESTEL overlay used to summarize cross-market macro pressure.</a:t>
            </a:r>
            <a:endParaRPr lang="en-US" sz="950" dirty="0"/>
          </a:p>
        </p:txBody>
      </p:sp>
    </p:spTree>
    <p:extLst>
      <p:ext uri="{BB962C8B-B14F-4D97-AF65-F5344CB8AC3E}">
        <p14:creationId xmlns:p14="http://schemas.microsoft.com/office/powerpoint/2010/main" val="1894355747"/>
      </p:ext>
    </p:extLst>
  </p:cSld>
  <p:clrMapOvr>
    <a:masterClrMapping/>
  </p:clrMapOvr>
  <mc:AlternateContent xmlns:mc="http://schemas.openxmlformats.org/markup-compatibility/2006" xmlns:p14="http://schemas.microsoft.com/office/powerpoint/2010/main">
    <mc:Choice Requires="p14">
      <p:transition spd="slow" p14:dur="2000" advTm="90832"/>
    </mc:Choice>
    <mc:Fallback xmlns="">
      <p:transition spd="slow" advTm="90832"/>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Text 1"/>
          <p:cNvSpPr/>
          <p:nvPr/>
        </p:nvSpPr>
        <p:spPr>
          <a:xfrm>
            <a:off x="658368" y="210312"/>
            <a:ext cx="2926080" cy="201168"/>
          </a:xfrm>
          <a:prstGeom prst="rect">
            <a:avLst/>
          </a:prstGeom>
          <a:noFill/>
          <a:ln/>
        </p:spPr>
        <p:txBody>
          <a:bodyPr wrap="square" lIns="0" tIns="0" rIns="0" bIns="0" rtlCol="0" anchor="ctr"/>
          <a:lstStyle/>
          <a:p>
            <a:pPr marL="0" indent="0">
              <a:buNone/>
            </a:pPr>
            <a:r>
              <a:rPr lang="en-US" sz="1000" b="1" dirty="0">
                <a:solidFill>
                  <a:srgbClr val="2F73C8"/>
                </a:solidFill>
                <a:latin typeface="Aptos" pitchFamily="34" charset="0"/>
                <a:ea typeface="Aptos" pitchFamily="34" charset="-122"/>
                <a:cs typeface="Aptos" pitchFamily="34" charset="-120"/>
              </a:rPr>
              <a:t>COMPETITIVE POSITION</a:t>
            </a:r>
            <a:endParaRPr lang="en-US" sz="1000" dirty="0"/>
          </a:p>
        </p:txBody>
      </p:sp>
      <p:sp>
        <p:nvSpPr>
          <p:cNvPr id="4" name="Text 2"/>
          <p:cNvSpPr/>
          <p:nvPr/>
        </p:nvSpPr>
        <p:spPr>
          <a:xfrm>
            <a:off x="658368" y="530352"/>
            <a:ext cx="7863840" cy="438912"/>
          </a:xfrm>
          <a:prstGeom prst="rect">
            <a:avLst/>
          </a:prstGeom>
          <a:noFill/>
          <a:ln/>
          <a:effectLst>
            <a:outerShdw blurRad="12700" dist="2540" dir="2700000" algn="bl" rotWithShape="0">
              <a:srgbClr val="000000">
                <a:alpha val="8000"/>
              </a:srgbClr>
            </a:outerShdw>
          </a:effectLst>
        </p:spPr>
        <p:txBody>
          <a:bodyPr wrap="square" lIns="0" tIns="0" rIns="0" bIns="0" rtlCol="0" anchor="ctr"/>
          <a:lstStyle/>
          <a:p>
            <a:pPr marL="0" indent="0">
              <a:buNone/>
            </a:pPr>
            <a:r>
              <a:rPr lang="en-US" sz="2400" b="1" dirty="0">
                <a:solidFill>
                  <a:srgbClr val="123A63"/>
                </a:solidFill>
                <a:latin typeface="Aptos Display" pitchFamily="34" charset="0"/>
                <a:ea typeface="Aptos Display" pitchFamily="34" charset="-122"/>
                <a:cs typeface="Aptos Display" pitchFamily="34" charset="-120"/>
              </a:rPr>
              <a:t>Tesla Still Leads Overall — but Benchmark Gaps Are Narrowing</a:t>
            </a:r>
            <a:endParaRPr lang="en-US" sz="2400" dirty="0"/>
          </a:p>
        </p:txBody>
      </p:sp>
      <p:sp>
        <p:nvSpPr>
          <p:cNvPr id="5" name="Shape 3"/>
          <p:cNvSpPr/>
          <p:nvPr/>
        </p:nvSpPr>
        <p:spPr>
          <a:xfrm>
            <a:off x="658368" y="1112812"/>
            <a:ext cx="10835640" cy="0"/>
          </a:xfrm>
          <a:prstGeom prst="line">
            <a:avLst/>
          </a:prstGeom>
          <a:noFill/>
          <a:ln w="15240">
            <a:solidFill>
              <a:srgbClr val="D9E3F0"/>
            </a:solidFill>
            <a:prstDash val="solid"/>
          </a:ln>
        </p:spPr>
        <p:txBody>
          <a:bodyPr/>
          <a:lstStyle/>
          <a:p>
            <a:endParaRPr lang="en-US"/>
          </a:p>
        </p:txBody>
      </p:sp>
      <p:sp>
        <p:nvSpPr>
          <p:cNvPr id="6" name="Text 4"/>
          <p:cNvSpPr/>
          <p:nvPr/>
        </p:nvSpPr>
        <p:spPr>
          <a:xfrm>
            <a:off x="11109960" y="310896"/>
            <a:ext cx="384048" cy="256032"/>
          </a:xfrm>
          <a:prstGeom prst="rect">
            <a:avLst/>
          </a:prstGeom>
          <a:noFill/>
          <a:ln/>
        </p:spPr>
        <p:txBody>
          <a:bodyPr wrap="square" lIns="0" tIns="0" rIns="0" bIns="0" rtlCol="0" anchor="ctr"/>
          <a:lstStyle/>
          <a:p>
            <a:pPr marL="0" indent="0" algn="r">
              <a:buNone/>
            </a:pPr>
            <a:r>
              <a:rPr lang="en-US" sz="1100" dirty="0">
                <a:solidFill>
                  <a:srgbClr val="64748B"/>
                </a:solidFill>
                <a:latin typeface="Aptos" pitchFamily="34" charset="0"/>
                <a:ea typeface="Aptos" pitchFamily="34" charset="-122"/>
                <a:cs typeface="Aptos" pitchFamily="34" charset="-120"/>
              </a:rPr>
              <a:t>2</a:t>
            </a:r>
            <a:endParaRPr lang="en-US" sz="1100" dirty="0"/>
          </a:p>
        </p:txBody>
      </p:sp>
      <p:sp>
        <p:nvSpPr>
          <p:cNvPr id="7" name="Shape 5"/>
          <p:cNvSpPr/>
          <p:nvPr/>
        </p:nvSpPr>
        <p:spPr>
          <a:xfrm>
            <a:off x="658368" y="1207008"/>
            <a:ext cx="5623560" cy="5212080"/>
          </a:xfrm>
          <a:prstGeom prst="roundRect">
            <a:avLst>
              <a:gd name="adj" fmla="val 1404"/>
            </a:avLst>
          </a:prstGeom>
          <a:solidFill>
            <a:srgbClr val="F9FBFE"/>
          </a:solidFill>
          <a:ln w="12700">
            <a:solidFill>
              <a:srgbClr val="D9E3F0"/>
            </a:solidFill>
            <a:prstDash val="solid"/>
          </a:ln>
        </p:spPr>
        <p:txBody>
          <a:bodyPr/>
          <a:lstStyle/>
          <a:p>
            <a:endParaRPr lang="en-US"/>
          </a:p>
        </p:txBody>
      </p:sp>
      <p:pic>
        <p:nvPicPr>
          <p:cNvPr id="8" name="Image 0" descr="/mnt/data/tesla_body_deck/benchmarking.png"/>
          <p:cNvPicPr>
            <a:picLocks noChangeAspect="1"/>
          </p:cNvPicPr>
          <p:nvPr/>
        </p:nvPicPr>
        <p:blipFill>
          <a:blip r:embed="rId3"/>
          <a:stretch>
            <a:fillRect/>
          </a:stretch>
        </p:blipFill>
        <p:spPr>
          <a:xfrm>
            <a:off x="804672" y="1847867"/>
            <a:ext cx="5330952" cy="3692618"/>
          </a:xfrm>
          <a:prstGeom prst="rect">
            <a:avLst/>
          </a:prstGeom>
        </p:spPr>
      </p:pic>
      <p:sp>
        <p:nvSpPr>
          <p:cNvPr id="9" name="Text 6"/>
          <p:cNvSpPr/>
          <p:nvPr/>
        </p:nvSpPr>
        <p:spPr>
          <a:xfrm>
            <a:off x="822960" y="6108192"/>
            <a:ext cx="5294376" cy="146304"/>
          </a:xfrm>
          <a:prstGeom prst="rect">
            <a:avLst/>
          </a:prstGeom>
          <a:noFill/>
          <a:ln/>
        </p:spPr>
        <p:txBody>
          <a:bodyPr wrap="square" lIns="0" tIns="0" rIns="0" bIns="0" rtlCol="0" anchor="ctr"/>
          <a:lstStyle/>
          <a:p>
            <a:pPr marL="0" indent="0" algn="r">
              <a:buNone/>
            </a:pPr>
            <a:r>
              <a:rPr lang="en-US" sz="950" i="1" dirty="0">
                <a:solidFill>
                  <a:srgbClr val="64748B"/>
                </a:solidFill>
                <a:latin typeface="Aptos" pitchFamily="34" charset="0"/>
                <a:ea typeface="Aptos" pitchFamily="34" charset="-122"/>
                <a:cs typeface="Aptos" pitchFamily="34" charset="-120"/>
              </a:rPr>
              <a:t>CPA benchmarking view: weighted score across scale, cost, profitability, software, charging, and market presence.</a:t>
            </a:r>
            <a:endParaRPr lang="en-US" sz="950" dirty="0"/>
          </a:p>
        </p:txBody>
      </p:sp>
      <p:sp>
        <p:nvSpPr>
          <p:cNvPr id="10" name="Shape 7"/>
          <p:cNvSpPr/>
          <p:nvPr/>
        </p:nvSpPr>
        <p:spPr>
          <a:xfrm>
            <a:off x="6446520" y="1207008"/>
            <a:ext cx="5074920" cy="5212080"/>
          </a:xfrm>
          <a:prstGeom prst="roundRect">
            <a:avLst>
              <a:gd name="adj" fmla="val 1441"/>
            </a:avLst>
          </a:prstGeom>
          <a:solidFill>
            <a:srgbClr val="F9FBFE"/>
          </a:solidFill>
          <a:ln w="12700">
            <a:solidFill>
              <a:srgbClr val="D9E3F0"/>
            </a:solidFill>
            <a:prstDash val="solid"/>
          </a:ln>
        </p:spPr>
        <p:txBody>
          <a:bodyPr/>
          <a:lstStyle/>
          <a:p>
            <a:endParaRPr lang="en-US"/>
          </a:p>
        </p:txBody>
      </p:sp>
      <p:sp>
        <p:nvSpPr>
          <p:cNvPr id="11" name="Text 8"/>
          <p:cNvSpPr/>
          <p:nvPr/>
        </p:nvSpPr>
        <p:spPr>
          <a:xfrm>
            <a:off x="6647688" y="1371600"/>
            <a:ext cx="4672584" cy="274320"/>
          </a:xfrm>
          <a:prstGeom prst="rect">
            <a:avLst/>
          </a:prstGeom>
          <a:noFill/>
          <a:ln/>
        </p:spPr>
        <p:txBody>
          <a:bodyPr wrap="square" lIns="0" tIns="0" rIns="0" bIns="0" rtlCol="0" anchor="ctr"/>
          <a:lstStyle/>
          <a:p>
            <a:pPr marL="0" indent="0">
              <a:buNone/>
            </a:pPr>
            <a:r>
              <a:rPr lang="en-US" sz="1400" b="1" dirty="0">
                <a:solidFill>
                  <a:srgbClr val="123A63"/>
                </a:solidFill>
                <a:latin typeface="Aptos" pitchFamily="34" charset="0"/>
                <a:ea typeface="Aptos" pitchFamily="34" charset="-122"/>
                <a:cs typeface="Aptos" pitchFamily="34" charset="-120"/>
              </a:rPr>
              <a:t>What the benchmark view suggests</a:t>
            </a:r>
            <a:endParaRPr lang="en-US" sz="1400" dirty="0"/>
          </a:p>
        </p:txBody>
      </p:sp>
      <p:sp>
        <p:nvSpPr>
          <p:cNvPr id="12" name="Text 9"/>
          <p:cNvSpPr/>
          <p:nvPr/>
        </p:nvSpPr>
        <p:spPr>
          <a:xfrm>
            <a:off x="6647688" y="1737360"/>
            <a:ext cx="4672584" cy="3767328"/>
          </a:xfrm>
          <a:prstGeom prst="rect">
            <a:avLst/>
          </a:prstGeom>
          <a:noFill/>
          <a:ln/>
        </p:spPr>
        <p:txBody>
          <a:bodyPr wrap="square" lIns="254" tIns="254" rIns="254" bIns="254" rtlCol="0" anchor="t"/>
          <a:lstStyle/>
          <a:p>
            <a:pPr marL="152400" indent="-152400">
              <a:buSzPct val="100000"/>
              <a:buChar char="•"/>
            </a:pPr>
            <a:r>
              <a:rPr lang="en-US" sz="1800" dirty="0">
                <a:solidFill>
                  <a:srgbClr val="1F2937"/>
                </a:solidFill>
                <a:latin typeface="Aptos" pitchFamily="34" charset="0"/>
                <a:ea typeface="Aptos" pitchFamily="34" charset="-122"/>
                <a:cs typeface="Aptos" pitchFamily="34" charset="-120"/>
              </a:rPr>
              <a:t>Tesla remains the strongest overall peer in this scorecard relative to BYD, Volkswagen Group, and Ford.</a:t>
            </a:r>
            <a:endParaRPr lang="en-US" sz="1800" dirty="0"/>
          </a:p>
          <a:p>
            <a:pPr marL="152400" indent="-152400">
              <a:buSzPct val="100000"/>
              <a:buChar char="•"/>
            </a:pPr>
            <a:r>
              <a:rPr lang="en-US" sz="1800" dirty="0">
                <a:solidFill>
                  <a:srgbClr val="1F2937"/>
                </a:solidFill>
                <a:latin typeface="Aptos" pitchFamily="34" charset="0"/>
                <a:ea typeface="Aptos" pitchFamily="34" charset="-122"/>
                <a:cs typeface="Aptos" pitchFamily="34" charset="-120"/>
              </a:rPr>
              <a:t>Its most durable advantages sit in software integration, charging ecosystem reach, and brand-enabled EV scale.</a:t>
            </a:r>
            <a:endParaRPr lang="en-US" sz="1800" dirty="0"/>
          </a:p>
          <a:p>
            <a:pPr marL="152400" indent="-152400">
              <a:buSzPct val="100000"/>
              <a:buChar char="•"/>
            </a:pPr>
            <a:r>
              <a:rPr lang="en-US" sz="1800" dirty="0">
                <a:solidFill>
                  <a:srgbClr val="1F2937"/>
                </a:solidFill>
                <a:latin typeface="Aptos" pitchFamily="34" charset="0"/>
                <a:ea typeface="Aptos" pitchFamily="34" charset="-122"/>
                <a:cs typeface="Aptos" pitchFamily="34" charset="-120"/>
              </a:rPr>
              <a:t>The visible risk is that rivals are converging fastest where cost discipline and refresh cadence matter most in a price-sensitive market.</a:t>
            </a:r>
            <a:endParaRPr lang="en-US" sz="1800" dirty="0"/>
          </a:p>
        </p:txBody>
      </p:sp>
      <p:sp>
        <p:nvSpPr>
          <p:cNvPr id="13" name="Shape 10"/>
          <p:cNvSpPr/>
          <p:nvPr/>
        </p:nvSpPr>
        <p:spPr>
          <a:xfrm>
            <a:off x="6611112" y="5815584"/>
            <a:ext cx="4745736" cy="384048"/>
          </a:xfrm>
          <a:prstGeom prst="roundRect">
            <a:avLst>
              <a:gd name="adj" fmla="val 14286"/>
            </a:avLst>
          </a:prstGeom>
          <a:solidFill>
            <a:srgbClr val="EAF8F1"/>
          </a:solidFill>
          <a:ln w="12700">
            <a:solidFill>
              <a:srgbClr val="EAF8F1">
                <a:alpha val="0"/>
              </a:srgbClr>
            </a:solidFill>
            <a:prstDash val="solid"/>
          </a:ln>
        </p:spPr>
        <p:txBody>
          <a:bodyPr/>
          <a:lstStyle/>
          <a:p>
            <a:endParaRPr lang="en-US"/>
          </a:p>
        </p:txBody>
      </p:sp>
      <p:sp>
        <p:nvSpPr>
          <p:cNvPr id="14" name="Text 11"/>
          <p:cNvSpPr/>
          <p:nvPr/>
        </p:nvSpPr>
        <p:spPr>
          <a:xfrm>
            <a:off x="6739128" y="5888736"/>
            <a:ext cx="4489704" cy="219456"/>
          </a:xfrm>
          <a:prstGeom prst="rect">
            <a:avLst/>
          </a:prstGeom>
          <a:noFill/>
          <a:ln/>
        </p:spPr>
        <p:txBody>
          <a:bodyPr wrap="square" lIns="0" tIns="0" rIns="0" bIns="0" rtlCol="0" anchor="ctr">
            <a:normAutofit fontScale="70000" lnSpcReduction="20000"/>
          </a:bodyPr>
          <a:lstStyle/>
          <a:p>
            <a:pPr marL="0" indent="0">
              <a:buNone/>
            </a:pPr>
            <a:r>
              <a:rPr lang="en-US" sz="1150" b="1" dirty="0">
                <a:solidFill>
                  <a:srgbClr val="123A63"/>
                </a:solidFill>
                <a:latin typeface="Aptos" pitchFamily="34" charset="0"/>
                <a:ea typeface="Aptos" pitchFamily="34" charset="-122"/>
                <a:cs typeface="Aptos" pitchFamily="34" charset="-120"/>
              </a:rPr>
              <a:t>Takeaway: Tesla still leads, but leadership is increasingly contingent on defending cost and product momentum.</a:t>
            </a:r>
            <a:endParaRPr lang="en-US" sz="1150" dirty="0"/>
          </a:p>
        </p:txBody>
      </p:sp>
    </p:spTree>
  </p:cSld>
  <p:clrMapOvr>
    <a:masterClrMapping/>
  </p:clrMapOvr>
  <mc:AlternateContent xmlns:mc="http://schemas.openxmlformats.org/markup-compatibility/2006" xmlns:p14="http://schemas.microsoft.com/office/powerpoint/2010/main">
    <mc:Choice Requires="p14">
      <p:transition spd="slow" p14:dur="2000" advTm="99690"/>
    </mc:Choice>
    <mc:Fallback xmlns="">
      <p:transition spd="slow" advTm="9969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01F3238-9F61-C50C-3FE3-68CC45814F4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216A517-DAB9-90D5-8ADD-B48F8D1F8492}"/>
              </a:ext>
            </a:extLst>
          </p:cNvPr>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7" name="Shape 6">
            <a:extLst>
              <a:ext uri="{FF2B5EF4-FFF2-40B4-BE49-F238E27FC236}">
                <a16:creationId xmlns:a16="http://schemas.microsoft.com/office/drawing/2014/main" id="{76282FCB-9E06-7CD2-CFBA-6F1DA91812EB}"/>
              </a:ext>
            </a:extLst>
          </p:cNvPr>
          <p:cNvSpPr/>
          <p:nvPr/>
        </p:nvSpPr>
        <p:spPr>
          <a:xfrm>
            <a:off x="684098" y="1170798"/>
            <a:ext cx="4980958" cy="5074920"/>
          </a:xfrm>
          <a:prstGeom prst="roundRect">
            <a:avLst>
              <a:gd name="adj" fmla="val 1702"/>
            </a:avLst>
          </a:prstGeom>
          <a:solidFill>
            <a:srgbClr val="EEF6FD"/>
          </a:solidFill>
          <a:ln w="12700">
            <a:solidFill>
              <a:srgbClr val="C7DDF1"/>
            </a:solidFill>
            <a:prstDash val="solid"/>
          </a:ln>
        </p:spPr>
        <p:txBody>
          <a:bodyPr/>
          <a:lstStyle/>
          <a:p>
            <a:endParaRPr lang="en-US"/>
          </a:p>
        </p:txBody>
      </p:sp>
      <p:sp>
        <p:nvSpPr>
          <p:cNvPr id="3" name="Text 1">
            <a:extLst>
              <a:ext uri="{FF2B5EF4-FFF2-40B4-BE49-F238E27FC236}">
                <a16:creationId xmlns:a16="http://schemas.microsoft.com/office/drawing/2014/main" id="{0A210360-F382-600E-272C-71EEEFAF5541}"/>
              </a:ext>
            </a:extLst>
          </p:cNvPr>
          <p:cNvSpPr/>
          <p:nvPr/>
        </p:nvSpPr>
        <p:spPr>
          <a:xfrm>
            <a:off x="658368" y="310896"/>
            <a:ext cx="2926080" cy="201168"/>
          </a:xfrm>
          <a:prstGeom prst="rect">
            <a:avLst/>
          </a:prstGeom>
          <a:noFill/>
          <a:ln/>
        </p:spPr>
        <p:txBody>
          <a:bodyPr wrap="square" lIns="0" tIns="0" rIns="0" bIns="0" rtlCol="0" anchor="ctr"/>
          <a:lstStyle/>
          <a:p>
            <a:pPr marL="0" indent="0">
              <a:buNone/>
            </a:pPr>
            <a:r>
              <a:rPr lang="en-US" sz="1000" b="1" dirty="0">
                <a:solidFill>
                  <a:srgbClr val="2F73C8"/>
                </a:solidFill>
                <a:latin typeface="Aptos" pitchFamily="34" charset="0"/>
                <a:ea typeface="Aptos" pitchFamily="34" charset="-122"/>
                <a:cs typeface="Aptos" pitchFamily="34" charset="-120"/>
              </a:rPr>
              <a:t>STRATEGIC RECOMMENDATION</a:t>
            </a:r>
            <a:endParaRPr lang="en-US" sz="1000" dirty="0"/>
          </a:p>
        </p:txBody>
      </p:sp>
      <p:sp>
        <p:nvSpPr>
          <p:cNvPr id="4" name="Text 2">
            <a:extLst>
              <a:ext uri="{FF2B5EF4-FFF2-40B4-BE49-F238E27FC236}">
                <a16:creationId xmlns:a16="http://schemas.microsoft.com/office/drawing/2014/main" id="{AC9632BC-FAD3-7567-D240-3A49852A7646}"/>
              </a:ext>
            </a:extLst>
          </p:cNvPr>
          <p:cNvSpPr/>
          <p:nvPr/>
        </p:nvSpPr>
        <p:spPr>
          <a:xfrm>
            <a:off x="658368" y="530352"/>
            <a:ext cx="7863840" cy="438912"/>
          </a:xfrm>
          <a:prstGeom prst="rect">
            <a:avLst/>
          </a:prstGeom>
          <a:noFill/>
          <a:ln/>
          <a:effectLst>
            <a:outerShdw blurRad="12700" dist="2540" dir="2700000" algn="bl" rotWithShape="0">
              <a:srgbClr val="000000">
                <a:alpha val="8000"/>
              </a:srgbClr>
            </a:outerShdw>
          </a:effectLst>
        </p:spPr>
        <p:txBody>
          <a:bodyPr wrap="square" lIns="0" tIns="0" rIns="0" bIns="0" rtlCol="0" anchor="ctr"/>
          <a:lstStyle/>
          <a:p>
            <a:pPr marL="0" indent="0">
              <a:buNone/>
            </a:pPr>
            <a:r>
              <a:rPr lang="en-US" sz="2400" b="1" dirty="0">
                <a:solidFill>
                  <a:srgbClr val="123A63"/>
                </a:solidFill>
                <a:latin typeface="Aptos Display" pitchFamily="34" charset="0"/>
                <a:ea typeface="Aptos Display" pitchFamily="34" charset="-122"/>
                <a:cs typeface="Aptos Display" pitchFamily="34" charset="-120"/>
              </a:rPr>
              <a:t>How the Value Curve Identified Tesla's Strategic Opportunity</a:t>
            </a:r>
          </a:p>
        </p:txBody>
      </p:sp>
      <p:sp>
        <p:nvSpPr>
          <p:cNvPr id="5" name="Shape 3">
            <a:extLst>
              <a:ext uri="{FF2B5EF4-FFF2-40B4-BE49-F238E27FC236}">
                <a16:creationId xmlns:a16="http://schemas.microsoft.com/office/drawing/2014/main" id="{F1587411-B352-AA6A-E347-427E7DAD3603}"/>
              </a:ext>
            </a:extLst>
          </p:cNvPr>
          <p:cNvSpPr/>
          <p:nvPr/>
        </p:nvSpPr>
        <p:spPr>
          <a:xfrm>
            <a:off x="658368" y="987552"/>
            <a:ext cx="10835640" cy="0"/>
          </a:xfrm>
          <a:prstGeom prst="line">
            <a:avLst/>
          </a:prstGeom>
          <a:noFill/>
          <a:ln w="15240">
            <a:solidFill>
              <a:srgbClr val="D9E3F0"/>
            </a:solidFill>
            <a:prstDash val="solid"/>
          </a:ln>
        </p:spPr>
        <p:txBody>
          <a:bodyPr/>
          <a:lstStyle/>
          <a:p>
            <a:endParaRPr lang="en-US"/>
          </a:p>
        </p:txBody>
      </p:sp>
      <p:sp>
        <p:nvSpPr>
          <p:cNvPr id="6" name="Text 4">
            <a:extLst>
              <a:ext uri="{FF2B5EF4-FFF2-40B4-BE49-F238E27FC236}">
                <a16:creationId xmlns:a16="http://schemas.microsoft.com/office/drawing/2014/main" id="{5872D47B-09C0-CB84-3E00-353B42F450D2}"/>
              </a:ext>
            </a:extLst>
          </p:cNvPr>
          <p:cNvSpPr/>
          <p:nvPr/>
        </p:nvSpPr>
        <p:spPr>
          <a:xfrm>
            <a:off x="11109960" y="310896"/>
            <a:ext cx="384048" cy="256032"/>
          </a:xfrm>
          <a:prstGeom prst="rect">
            <a:avLst/>
          </a:prstGeom>
          <a:noFill/>
          <a:ln/>
        </p:spPr>
        <p:txBody>
          <a:bodyPr wrap="square" lIns="0" tIns="0" rIns="0" bIns="0" rtlCol="0" anchor="ctr"/>
          <a:lstStyle/>
          <a:p>
            <a:pPr marL="0" indent="0" algn="r">
              <a:buNone/>
            </a:pPr>
            <a:r>
              <a:rPr lang="en-US" sz="1100" dirty="0">
                <a:solidFill>
                  <a:srgbClr val="64748B"/>
                </a:solidFill>
                <a:latin typeface="Aptos" pitchFamily="34" charset="0"/>
                <a:ea typeface="Aptos" pitchFamily="34" charset="-122"/>
                <a:cs typeface="Aptos" pitchFamily="34" charset="-120"/>
              </a:rPr>
              <a:t>3</a:t>
            </a:r>
            <a:endParaRPr lang="en-US" sz="1100" dirty="0"/>
          </a:p>
        </p:txBody>
      </p:sp>
      <p:sp>
        <p:nvSpPr>
          <p:cNvPr id="12" name="Shape 10">
            <a:extLst>
              <a:ext uri="{FF2B5EF4-FFF2-40B4-BE49-F238E27FC236}">
                <a16:creationId xmlns:a16="http://schemas.microsoft.com/office/drawing/2014/main" id="{92FCA3F3-3216-7D32-14DC-22E14E282242}"/>
              </a:ext>
            </a:extLst>
          </p:cNvPr>
          <p:cNvSpPr/>
          <p:nvPr/>
        </p:nvSpPr>
        <p:spPr>
          <a:xfrm>
            <a:off x="5854665" y="1207008"/>
            <a:ext cx="6147421" cy="4663439"/>
          </a:xfrm>
          <a:prstGeom prst="roundRect">
            <a:avLst>
              <a:gd name="adj" fmla="val 1404"/>
            </a:avLst>
          </a:prstGeom>
          <a:solidFill>
            <a:srgbClr val="F9FBFE"/>
          </a:solidFill>
          <a:ln w="12700">
            <a:solidFill>
              <a:srgbClr val="D9E3F0"/>
            </a:solidFill>
            <a:prstDash val="solid"/>
          </a:ln>
        </p:spPr>
        <p:txBody>
          <a:bodyPr/>
          <a:lstStyle/>
          <a:p>
            <a:endParaRPr lang="en-US"/>
          </a:p>
        </p:txBody>
      </p:sp>
      <p:sp>
        <p:nvSpPr>
          <p:cNvPr id="14" name="Text 11">
            <a:extLst>
              <a:ext uri="{FF2B5EF4-FFF2-40B4-BE49-F238E27FC236}">
                <a16:creationId xmlns:a16="http://schemas.microsoft.com/office/drawing/2014/main" id="{D91001E7-0AA2-FAAA-97C7-CEF440F16BF3}"/>
              </a:ext>
            </a:extLst>
          </p:cNvPr>
          <p:cNvSpPr/>
          <p:nvPr/>
        </p:nvSpPr>
        <p:spPr>
          <a:xfrm>
            <a:off x="5854665" y="5577840"/>
            <a:ext cx="5184648" cy="146304"/>
          </a:xfrm>
          <a:prstGeom prst="rect">
            <a:avLst/>
          </a:prstGeom>
          <a:noFill/>
          <a:ln/>
        </p:spPr>
        <p:txBody>
          <a:bodyPr wrap="square" lIns="0" tIns="0" rIns="0" bIns="0" rtlCol="0" anchor="ctr"/>
          <a:lstStyle/>
          <a:p>
            <a:pPr marL="0" indent="0" algn="r">
              <a:buNone/>
            </a:pPr>
            <a:r>
              <a:rPr lang="en-US" sz="950" i="1" dirty="0">
                <a:solidFill>
                  <a:srgbClr val="64748B"/>
                </a:solidFill>
                <a:latin typeface="Aptos" pitchFamily="34" charset="0"/>
                <a:ea typeface="Aptos" pitchFamily="34" charset="-122"/>
                <a:cs typeface="Aptos" pitchFamily="34" charset="-120"/>
              </a:rPr>
              <a:t>CPA SWOT synthesis highlighting the strategic opportunity and implementation risks.</a:t>
            </a:r>
            <a:endParaRPr lang="en-US" sz="950" dirty="0"/>
          </a:p>
        </p:txBody>
      </p:sp>
      <p:pic>
        <p:nvPicPr>
          <p:cNvPr id="13" name="Image 0" descr="/mnt/data/value_curve_crop.png">
            <a:extLst>
              <a:ext uri="{FF2B5EF4-FFF2-40B4-BE49-F238E27FC236}">
                <a16:creationId xmlns:a16="http://schemas.microsoft.com/office/drawing/2014/main" id="{7DF41CC1-94D4-4F5E-E6FB-09714202D04F}"/>
              </a:ext>
            </a:extLst>
          </p:cNvPr>
          <p:cNvPicPr>
            <a:picLocks noChangeAspect="1"/>
          </p:cNvPicPr>
          <p:nvPr/>
        </p:nvPicPr>
        <p:blipFill>
          <a:blip r:embed="rId3"/>
          <a:stretch>
            <a:fillRect/>
          </a:stretch>
        </p:blipFill>
        <p:spPr>
          <a:xfrm>
            <a:off x="5877889" y="1315899"/>
            <a:ext cx="5985335" cy="4188789"/>
          </a:xfrm>
          <a:prstGeom prst="rect">
            <a:avLst/>
          </a:prstGeom>
        </p:spPr>
      </p:pic>
      <p:sp>
        <p:nvSpPr>
          <p:cNvPr id="27" name="Text 7">
            <a:extLst>
              <a:ext uri="{FF2B5EF4-FFF2-40B4-BE49-F238E27FC236}">
                <a16:creationId xmlns:a16="http://schemas.microsoft.com/office/drawing/2014/main" id="{F3FDA5D8-E278-0EDA-109E-A185028F7C35}"/>
              </a:ext>
            </a:extLst>
          </p:cNvPr>
          <p:cNvSpPr/>
          <p:nvPr/>
        </p:nvSpPr>
        <p:spPr>
          <a:xfrm>
            <a:off x="868680" y="1303457"/>
            <a:ext cx="2936638" cy="416135"/>
          </a:xfrm>
          <a:prstGeom prst="rect">
            <a:avLst/>
          </a:prstGeom>
          <a:noFill/>
          <a:ln/>
        </p:spPr>
        <p:txBody>
          <a:bodyPr wrap="square" lIns="0" tIns="0" rIns="0" bIns="0" rtlCol="0" anchor="ctr"/>
          <a:lstStyle/>
          <a:p>
            <a:pPr marL="0" indent="0">
              <a:buNone/>
            </a:pPr>
            <a:r>
              <a:rPr lang="en-US" sz="1800" b="1" dirty="0">
                <a:solidFill>
                  <a:srgbClr val="173F6B"/>
                </a:solidFill>
                <a:latin typeface="Aptos" pitchFamily="34" charset="0"/>
                <a:ea typeface="Aptos" pitchFamily="34" charset="-122"/>
                <a:cs typeface="Aptos" pitchFamily="34" charset="-120"/>
              </a:rPr>
              <a:t>Why it mattered</a:t>
            </a:r>
            <a:endParaRPr lang="en-US" sz="1800" dirty="0"/>
          </a:p>
        </p:txBody>
      </p:sp>
      <p:sp>
        <p:nvSpPr>
          <p:cNvPr id="28" name="Shape 8">
            <a:extLst>
              <a:ext uri="{FF2B5EF4-FFF2-40B4-BE49-F238E27FC236}">
                <a16:creationId xmlns:a16="http://schemas.microsoft.com/office/drawing/2014/main" id="{6FFBB22B-28F3-F4EF-94FA-37F5C2E0697C}"/>
              </a:ext>
            </a:extLst>
          </p:cNvPr>
          <p:cNvSpPr/>
          <p:nvPr/>
        </p:nvSpPr>
        <p:spPr>
          <a:xfrm>
            <a:off x="822960" y="1824666"/>
            <a:ext cx="4669794" cy="1133856"/>
          </a:xfrm>
          <a:prstGeom prst="roundRect">
            <a:avLst>
              <a:gd name="adj" fmla="val 4348"/>
            </a:avLst>
          </a:prstGeom>
          <a:solidFill>
            <a:srgbClr val="FFFFFF"/>
          </a:solidFill>
          <a:ln w="12700">
            <a:solidFill>
              <a:srgbClr val="D9E8F6"/>
            </a:solidFill>
            <a:prstDash val="solid"/>
          </a:ln>
        </p:spPr>
        <p:txBody>
          <a:bodyPr/>
          <a:lstStyle/>
          <a:p>
            <a:endParaRPr lang="en-US"/>
          </a:p>
        </p:txBody>
      </p:sp>
      <p:sp>
        <p:nvSpPr>
          <p:cNvPr id="29" name="Text 9">
            <a:extLst>
              <a:ext uri="{FF2B5EF4-FFF2-40B4-BE49-F238E27FC236}">
                <a16:creationId xmlns:a16="http://schemas.microsoft.com/office/drawing/2014/main" id="{0E40D9FE-DC8F-3F34-B9E0-7B345DD1ED69}"/>
              </a:ext>
            </a:extLst>
          </p:cNvPr>
          <p:cNvSpPr/>
          <p:nvPr/>
        </p:nvSpPr>
        <p:spPr>
          <a:xfrm>
            <a:off x="1001465" y="1941389"/>
            <a:ext cx="4463690" cy="305166"/>
          </a:xfrm>
          <a:prstGeom prst="rect">
            <a:avLst/>
          </a:prstGeom>
          <a:noFill/>
          <a:ln/>
        </p:spPr>
        <p:txBody>
          <a:bodyPr wrap="square" lIns="0" tIns="0" rIns="0" bIns="0" rtlCol="0" anchor="ctr"/>
          <a:lstStyle/>
          <a:p>
            <a:pPr marL="0" indent="0">
              <a:buNone/>
            </a:pPr>
            <a:r>
              <a:rPr lang="en-US" sz="1250" b="1" dirty="0">
                <a:solidFill>
                  <a:srgbClr val="1A4F7A"/>
                </a:solidFill>
                <a:latin typeface="Aptos" pitchFamily="34" charset="0"/>
                <a:ea typeface="Aptos" pitchFamily="34" charset="-122"/>
                <a:cs typeface="Aptos" pitchFamily="34" charset="-120"/>
              </a:rPr>
              <a:t>1. It isolated Tesla's defensible strengths.</a:t>
            </a:r>
            <a:endParaRPr lang="en-US" sz="1250" dirty="0"/>
          </a:p>
        </p:txBody>
      </p:sp>
      <p:sp>
        <p:nvSpPr>
          <p:cNvPr id="30" name="Text 10">
            <a:extLst>
              <a:ext uri="{FF2B5EF4-FFF2-40B4-BE49-F238E27FC236}">
                <a16:creationId xmlns:a16="http://schemas.microsoft.com/office/drawing/2014/main" id="{3FE4C477-6ACA-AD2A-F888-321368832E01}"/>
              </a:ext>
            </a:extLst>
          </p:cNvPr>
          <p:cNvSpPr/>
          <p:nvPr/>
        </p:nvSpPr>
        <p:spPr>
          <a:xfrm>
            <a:off x="1005840" y="2062410"/>
            <a:ext cx="4346224" cy="804528"/>
          </a:xfrm>
          <a:prstGeom prst="rect">
            <a:avLst/>
          </a:prstGeom>
          <a:noFill/>
          <a:ln/>
        </p:spPr>
        <p:txBody>
          <a:bodyPr wrap="square" lIns="0" tIns="0" rIns="0" bIns="0" rtlCol="0" anchor="ctr"/>
          <a:lstStyle/>
          <a:p>
            <a:pPr marL="0" indent="0">
              <a:buNone/>
            </a:pPr>
            <a:r>
              <a:rPr lang="en-US" sz="1050" dirty="0">
                <a:solidFill>
                  <a:srgbClr val="34495E"/>
                </a:solidFill>
                <a:latin typeface="Aptos" pitchFamily="34" charset="0"/>
                <a:ea typeface="Aptos" pitchFamily="34" charset="-122"/>
                <a:cs typeface="Aptos" pitchFamily="34" charset="-120"/>
              </a:rPr>
              <a:t>The curve shows Tesla leading most clearly in software / ADAS and charging ecosystem depth. Those factors are harder to copy than simple price cuts.</a:t>
            </a:r>
            <a:endParaRPr lang="en-US" sz="1050" dirty="0"/>
          </a:p>
        </p:txBody>
      </p:sp>
      <p:sp>
        <p:nvSpPr>
          <p:cNvPr id="31" name="Shape 11">
            <a:extLst>
              <a:ext uri="{FF2B5EF4-FFF2-40B4-BE49-F238E27FC236}">
                <a16:creationId xmlns:a16="http://schemas.microsoft.com/office/drawing/2014/main" id="{EF4C73C9-ED2F-6E71-514D-04CCE41916CB}"/>
              </a:ext>
            </a:extLst>
          </p:cNvPr>
          <p:cNvSpPr/>
          <p:nvPr/>
        </p:nvSpPr>
        <p:spPr>
          <a:xfrm>
            <a:off x="822960" y="3373416"/>
            <a:ext cx="4646570" cy="1133856"/>
          </a:xfrm>
          <a:prstGeom prst="roundRect">
            <a:avLst>
              <a:gd name="adj" fmla="val 4348"/>
            </a:avLst>
          </a:prstGeom>
          <a:solidFill>
            <a:srgbClr val="FFFFFF"/>
          </a:solidFill>
          <a:ln w="12700">
            <a:solidFill>
              <a:srgbClr val="D9E8F6"/>
            </a:solidFill>
            <a:prstDash val="solid"/>
          </a:ln>
        </p:spPr>
        <p:txBody>
          <a:bodyPr/>
          <a:lstStyle/>
          <a:p>
            <a:endParaRPr lang="en-US"/>
          </a:p>
        </p:txBody>
      </p:sp>
      <p:sp>
        <p:nvSpPr>
          <p:cNvPr id="32" name="Text 12">
            <a:extLst>
              <a:ext uri="{FF2B5EF4-FFF2-40B4-BE49-F238E27FC236}">
                <a16:creationId xmlns:a16="http://schemas.microsoft.com/office/drawing/2014/main" id="{89270229-74FA-5E63-C8F0-D951DB1D9115}"/>
              </a:ext>
            </a:extLst>
          </p:cNvPr>
          <p:cNvSpPr/>
          <p:nvPr/>
        </p:nvSpPr>
        <p:spPr>
          <a:xfrm>
            <a:off x="1001465" y="3386144"/>
            <a:ext cx="4463690" cy="305166"/>
          </a:xfrm>
          <a:prstGeom prst="rect">
            <a:avLst/>
          </a:prstGeom>
          <a:noFill/>
          <a:ln/>
        </p:spPr>
        <p:txBody>
          <a:bodyPr wrap="square" lIns="0" tIns="0" rIns="0" bIns="0" rtlCol="0" anchor="ctr"/>
          <a:lstStyle/>
          <a:p>
            <a:pPr marL="0" indent="0">
              <a:buNone/>
            </a:pPr>
            <a:r>
              <a:rPr lang="en-US" sz="1250" b="1" dirty="0">
                <a:solidFill>
                  <a:srgbClr val="1A4F7A"/>
                </a:solidFill>
                <a:latin typeface="Aptos" pitchFamily="34" charset="0"/>
                <a:ea typeface="Aptos" pitchFamily="34" charset="-122"/>
                <a:cs typeface="Aptos" pitchFamily="34" charset="-120"/>
              </a:rPr>
              <a:t>2. It exposed convergence risk.</a:t>
            </a:r>
            <a:endParaRPr lang="en-US" sz="1250" dirty="0"/>
          </a:p>
        </p:txBody>
      </p:sp>
      <p:sp>
        <p:nvSpPr>
          <p:cNvPr id="33" name="Text 13">
            <a:extLst>
              <a:ext uri="{FF2B5EF4-FFF2-40B4-BE49-F238E27FC236}">
                <a16:creationId xmlns:a16="http://schemas.microsoft.com/office/drawing/2014/main" id="{D566E430-C96B-4CA2-725E-4A9FB517C928}"/>
              </a:ext>
            </a:extLst>
          </p:cNvPr>
          <p:cNvSpPr/>
          <p:nvPr/>
        </p:nvSpPr>
        <p:spPr>
          <a:xfrm>
            <a:off x="1001465" y="3520512"/>
            <a:ext cx="4346224" cy="804528"/>
          </a:xfrm>
          <a:prstGeom prst="rect">
            <a:avLst/>
          </a:prstGeom>
          <a:noFill/>
          <a:ln/>
        </p:spPr>
        <p:txBody>
          <a:bodyPr wrap="square" lIns="0" tIns="0" rIns="0" bIns="0" rtlCol="0" anchor="ctr"/>
          <a:lstStyle/>
          <a:p>
            <a:pPr marL="0" indent="0">
              <a:buNone/>
            </a:pPr>
            <a:r>
              <a:rPr lang="en-US" sz="1050" dirty="0">
                <a:solidFill>
                  <a:srgbClr val="34495E"/>
                </a:solidFill>
                <a:latin typeface="Aptos" pitchFamily="34" charset="0"/>
                <a:ea typeface="Aptos" pitchFamily="34" charset="-122"/>
                <a:cs typeface="Aptos" pitchFamily="34" charset="-120"/>
              </a:rPr>
              <a:t>BYD remains strong on scale, cost efficiency, and battery integration, which signals that Tesla cannot rely on volume alone to defend advantage.</a:t>
            </a:r>
            <a:endParaRPr lang="en-US" sz="1050" dirty="0"/>
          </a:p>
        </p:txBody>
      </p:sp>
      <p:sp>
        <p:nvSpPr>
          <p:cNvPr id="34" name="Shape 14">
            <a:extLst>
              <a:ext uri="{FF2B5EF4-FFF2-40B4-BE49-F238E27FC236}">
                <a16:creationId xmlns:a16="http://schemas.microsoft.com/office/drawing/2014/main" id="{5CB98AE8-977B-AD92-9286-F37A41EA563E}"/>
              </a:ext>
            </a:extLst>
          </p:cNvPr>
          <p:cNvSpPr/>
          <p:nvPr/>
        </p:nvSpPr>
        <p:spPr>
          <a:xfrm>
            <a:off x="822960" y="4795088"/>
            <a:ext cx="4646570" cy="1133856"/>
          </a:xfrm>
          <a:prstGeom prst="roundRect">
            <a:avLst>
              <a:gd name="adj" fmla="val 4348"/>
            </a:avLst>
          </a:prstGeom>
          <a:solidFill>
            <a:srgbClr val="FFFFFF"/>
          </a:solidFill>
          <a:ln w="12700">
            <a:solidFill>
              <a:srgbClr val="D9E8F6"/>
            </a:solidFill>
            <a:prstDash val="solid"/>
          </a:ln>
        </p:spPr>
        <p:txBody>
          <a:bodyPr/>
          <a:lstStyle/>
          <a:p>
            <a:endParaRPr lang="en-US" dirty="0"/>
          </a:p>
        </p:txBody>
      </p:sp>
      <p:sp>
        <p:nvSpPr>
          <p:cNvPr id="35" name="Text 15">
            <a:extLst>
              <a:ext uri="{FF2B5EF4-FFF2-40B4-BE49-F238E27FC236}">
                <a16:creationId xmlns:a16="http://schemas.microsoft.com/office/drawing/2014/main" id="{B1E1B090-CFD6-60FE-D72D-5086E8266706}"/>
              </a:ext>
            </a:extLst>
          </p:cNvPr>
          <p:cNvSpPr/>
          <p:nvPr/>
        </p:nvSpPr>
        <p:spPr>
          <a:xfrm>
            <a:off x="1005840" y="4838685"/>
            <a:ext cx="4463690" cy="305166"/>
          </a:xfrm>
          <a:prstGeom prst="rect">
            <a:avLst/>
          </a:prstGeom>
          <a:noFill/>
          <a:ln/>
        </p:spPr>
        <p:txBody>
          <a:bodyPr wrap="square" lIns="0" tIns="0" rIns="0" bIns="0" rtlCol="0" anchor="ctr"/>
          <a:lstStyle/>
          <a:p>
            <a:pPr marL="0" indent="0">
              <a:buNone/>
            </a:pPr>
            <a:r>
              <a:rPr lang="en-US" sz="1250" b="1" dirty="0">
                <a:solidFill>
                  <a:srgbClr val="1A4F7A"/>
                </a:solidFill>
                <a:latin typeface="Aptos" pitchFamily="34" charset="0"/>
                <a:ea typeface="Aptos" pitchFamily="34" charset="-122"/>
                <a:cs typeface="Aptos" pitchFamily="34" charset="-120"/>
              </a:rPr>
              <a:t>3. It pointed to the opportunity.</a:t>
            </a:r>
            <a:endParaRPr lang="en-US" sz="1250" dirty="0"/>
          </a:p>
        </p:txBody>
      </p:sp>
      <p:sp>
        <p:nvSpPr>
          <p:cNvPr id="36" name="Text 16">
            <a:extLst>
              <a:ext uri="{FF2B5EF4-FFF2-40B4-BE49-F238E27FC236}">
                <a16:creationId xmlns:a16="http://schemas.microsoft.com/office/drawing/2014/main" id="{C697D87C-8E19-5761-4418-274F62742594}"/>
              </a:ext>
            </a:extLst>
          </p:cNvPr>
          <p:cNvSpPr/>
          <p:nvPr/>
        </p:nvSpPr>
        <p:spPr>
          <a:xfrm>
            <a:off x="1005840" y="4951842"/>
            <a:ext cx="4346224" cy="804528"/>
          </a:xfrm>
          <a:prstGeom prst="rect">
            <a:avLst/>
          </a:prstGeom>
          <a:noFill/>
          <a:ln/>
        </p:spPr>
        <p:txBody>
          <a:bodyPr wrap="square" lIns="0" tIns="0" rIns="0" bIns="0" rtlCol="0" anchor="ctr"/>
          <a:lstStyle/>
          <a:p>
            <a:pPr marL="0" indent="0">
              <a:buNone/>
            </a:pPr>
            <a:r>
              <a:rPr lang="en-US" sz="1050" dirty="0">
                <a:solidFill>
                  <a:srgbClr val="34495E"/>
                </a:solidFill>
                <a:latin typeface="Aptos" pitchFamily="34" charset="0"/>
                <a:ea typeface="Aptos" pitchFamily="34" charset="-122"/>
                <a:cs typeface="Aptos" pitchFamily="34" charset="-120"/>
              </a:rPr>
              <a:t>The best strategic path is differentiation with scale: keep reducing cost, but expand monetization in software, charging access, and energy storage.</a:t>
            </a:r>
            <a:endParaRPr lang="en-US" sz="1050" dirty="0"/>
          </a:p>
        </p:txBody>
      </p:sp>
    </p:spTree>
    <p:extLst>
      <p:ext uri="{BB962C8B-B14F-4D97-AF65-F5344CB8AC3E}">
        <p14:creationId xmlns:p14="http://schemas.microsoft.com/office/powerpoint/2010/main" val="1421107139"/>
      </p:ext>
    </p:extLst>
  </p:cSld>
  <p:clrMapOvr>
    <a:masterClrMapping/>
  </p:clrMapOvr>
  <mc:AlternateContent xmlns:mc="http://schemas.openxmlformats.org/markup-compatibility/2006" xmlns:p14="http://schemas.microsoft.com/office/powerpoint/2010/main">
    <mc:Choice Requires="p14">
      <p:transition spd="slow" p14:dur="2000" advTm="108831"/>
    </mc:Choice>
    <mc:Fallback xmlns="">
      <p:transition spd="slow" advTm="108831"/>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Text 1"/>
          <p:cNvSpPr/>
          <p:nvPr/>
        </p:nvSpPr>
        <p:spPr>
          <a:xfrm>
            <a:off x="658368" y="310896"/>
            <a:ext cx="2926080" cy="201168"/>
          </a:xfrm>
          <a:prstGeom prst="rect">
            <a:avLst/>
          </a:prstGeom>
          <a:noFill/>
          <a:ln/>
        </p:spPr>
        <p:txBody>
          <a:bodyPr wrap="square" lIns="0" tIns="0" rIns="0" bIns="0" rtlCol="0" anchor="ctr"/>
          <a:lstStyle/>
          <a:p>
            <a:pPr marL="0" indent="0">
              <a:buNone/>
            </a:pPr>
            <a:r>
              <a:rPr lang="en-US" sz="1000" b="1" dirty="0">
                <a:solidFill>
                  <a:srgbClr val="2F73C8"/>
                </a:solidFill>
                <a:latin typeface="Aptos" pitchFamily="34" charset="0"/>
                <a:ea typeface="Aptos" pitchFamily="34" charset="-122"/>
                <a:cs typeface="Aptos" pitchFamily="34" charset="-120"/>
              </a:rPr>
              <a:t>STRATEGIC RECOMMENDATION</a:t>
            </a:r>
            <a:endParaRPr lang="en-US" sz="1000" dirty="0"/>
          </a:p>
        </p:txBody>
      </p:sp>
      <p:sp>
        <p:nvSpPr>
          <p:cNvPr id="4" name="Text 2"/>
          <p:cNvSpPr/>
          <p:nvPr/>
        </p:nvSpPr>
        <p:spPr>
          <a:xfrm>
            <a:off x="658368" y="530352"/>
            <a:ext cx="7863840" cy="438912"/>
          </a:xfrm>
          <a:prstGeom prst="rect">
            <a:avLst/>
          </a:prstGeom>
          <a:noFill/>
          <a:ln/>
          <a:effectLst>
            <a:outerShdw blurRad="12700" dist="2540" dir="2700000" algn="bl" rotWithShape="0">
              <a:srgbClr val="000000">
                <a:alpha val="8000"/>
              </a:srgbClr>
            </a:outerShdw>
          </a:effectLst>
        </p:spPr>
        <p:txBody>
          <a:bodyPr wrap="square" lIns="0" tIns="0" rIns="0" bIns="0" rtlCol="0" anchor="ctr"/>
          <a:lstStyle/>
          <a:p>
            <a:pPr marL="0" indent="0">
              <a:buNone/>
            </a:pPr>
            <a:r>
              <a:rPr lang="en-US" sz="2400" b="1" dirty="0">
                <a:solidFill>
                  <a:srgbClr val="123A63"/>
                </a:solidFill>
                <a:latin typeface="Aptos Display" pitchFamily="34" charset="0"/>
                <a:ea typeface="Aptos Display" pitchFamily="34" charset="-122"/>
                <a:cs typeface="Aptos Display" pitchFamily="34" charset="-120"/>
              </a:rPr>
              <a:t>Recommended Strategy: Differentiate With Scale</a:t>
            </a:r>
            <a:endParaRPr lang="en-US" sz="2400" dirty="0"/>
          </a:p>
        </p:txBody>
      </p:sp>
      <p:sp>
        <p:nvSpPr>
          <p:cNvPr id="5" name="Shape 3"/>
          <p:cNvSpPr/>
          <p:nvPr/>
        </p:nvSpPr>
        <p:spPr>
          <a:xfrm>
            <a:off x="658368" y="987552"/>
            <a:ext cx="10835640" cy="0"/>
          </a:xfrm>
          <a:prstGeom prst="line">
            <a:avLst/>
          </a:prstGeom>
          <a:noFill/>
          <a:ln w="15240">
            <a:solidFill>
              <a:srgbClr val="D9E3F0"/>
            </a:solidFill>
            <a:prstDash val="solid"/>
          </a:ln>
        </p:spPr>
        <p:txBody>
          <a:bodyPr/>
          <a:lstStyle/>
          <a:p>
            <a:endParaRPr lang="en-US"/>
          </a:p>
        </p:txBody>
      </p:sp>
      <p:sp>
        <p:nvSpPr>
          <p:cNvPr id="6" name="Text 4"/>
          <p:cNvSpPr/>
          <p:nvPr/>
        </p:nvSpPr>
        <p:spPr>
          <a:xfrm>
            <a:off x="11109960" y="310896"/>
            <a:ext cx="384048" cy="256032"/>
          </a:xfrm>
          <a:prstGeom prst="rect">
            <a:avLst/>
          </a:prstGeom>
          <a:noFill/>
          <a:ln/>
        </p:spPr>
        <p:txBody>
          <a:bodyPr wrap="square" lIns="0" tIns="0" rIns="0" bIns="0" rtlCol="0" anchor="ctr"/>
          <a:lstStyle/>
          <a:p>
            <a:pPr marL="0" indent="0" algn="r">
              <a:buNone/>
            </a:pPr>
            <a:r>
              <a:rPr lang="en-US" sz="1100" dirty="0">
                <a:solidFill>
                  <a:srgbClr val="64748B"/>
                </a:solidFill>
                <a:latin typeface="Aptos" pitchFamily="34" charset="0"/>
                <a:ea typeface="Aptos" pitchFamily="34" charset="-122"/>
                <a:cs typeface="Aptos" pitchFamily="34" charset="-120"/>
              </a:rPr>
              <a:t>3</a:t>
            </a:r>
            <a:endParaRPr lang="en-US" sz="1100" dirty="0"/>
          </a:p>
        </p:txBody>
      </p:sp>
      <p:sp>
        <p:nvSpPr>
          <p:cNvPr id="7" name="Shape 5"/>
          <p:cNvSpPr/>
          <p:nvPr/>
        </p:nvSpPr>
        <p:spPr>
          <a:xfrm>
            <a:off x="658368" y="1207008"/>
            <a:ext cx="5074920" cy="5212080"/>
          </a:xfrm>
          <a:prstGeom prst="roundRect">
            <a:avLst>
              <a:gd name="adj" fmla="val 1441"/>
            </a:avLst>
          </a:prstGeom>
          <a:solidFill>
            <a:srgbClr val="F9FBFE"/>
          </a:solidFill>
          <a:ln w="12700">
            <a:solidFill>
              <a:srgbClr val="D9E3F0"/>
            </a:solidFill>
            <a:prstDash val="solid"/>
          </a:ln>
        </p:spPr>
        <p:txBody>
          <a:bodyPr/>
          <a:lstStyle/>
          <a:p>
            <a:endParaRPr lang="en-US"/>
          </a:p>
        </p:txBody>
      </p:sp>
      <p:sp>
        <p:nvSpPr>
          <p:cNvPr id="8" name="Text 6"/>
          <p:cNvSpPr/>
          <p:nvPr/>
        </p:nvSpPr>
        <p:spPr>
          <a:xfrm>
            <a:off x="859536" y="1371600"/>
            <a:ext cx="4672584" cy="274320"/>
          </a:xfrm>
          <a:prstGeom prst="rect">
            <a:avLst/>
          </a:prstGeom>
          <a:noFill/>
          <a:ln/>
        </p:spPr>
        <p:txBody>
          <a:bodyPr wrap="square" lIns="0" tIns="0" rIns="0" bIns="0" rtlCol="0" anchor="ctr"/>
          <a:lstStyle/>
          <a:p>
            <a:pPr marL="0" indent="0">
              <a:buNone/>
            </a:pPr>
            <a:r>
              <a:rPr lang="en-US" sz="1400" b="1" dirty="0">
                <a:solidFill>
                  <a:srgbClr val="123A63"/>
                </a:solidFill>
                <a:latin typeface="Aptos" pitchFamily="34" charset="0"/>
                <a:ea typeface="Aptos" pitchFamily="34" charset="-122"/>
                <a:cs typeface="Aptos" pitchFamily="34" charset="-120"/>
              </a:rPr>
              <a:t>Recommendation and implementation challenge</a:t>
            </a:r>
            <a:endParaRPr lang="en-US" sz="1400" dirty="0"/>
          </a:p>
        </p:txBody>
      </p:sp>
      <p:sp>
        <p:nvSpPr>
          <p:cNvPr id="9" name="Text 7"/>
          <p:cNvSpPr/>
          <p:nvPr/>
        </p:nvSpPr>
        <p:spPr>
          <a:xfrm>
            <a:off x="859536" y="1737360"/>
            <a:ext cx="4672584" cy="3767328"/>
          </a:xfrm>
          <a:prstGeom prst="rect">
            <a:avLst/>
          </a:prstGeom>
          <a:noFill/>
          <a:ln/>
        </p:spPr>
        <p:txBody>
          <a:bodyPr wrap="square" lIns="254" tIns="254" rIns="254" bIns="254" rtlCol="0" anchor="t"/>
          <a:lstStyle/>
          <a:p>
            <a:pPr marL="152400" indent="-152400">
              <a:buSzPct val="100000"/>
              <a:buChar char="•"/>
            </a:pPr>
            <a:r>
              <a:rPr lang="en-US" sz="1800" dirty="0">
                <a:solidFill>
                  <a:srgbClr val="1F2937"/>
                </a:solidFill>
                <a:latin typeface="Aptos" pitchFamily="34" charset="0"/>
                <a:ea typeface="Aptos" pitchFamily="34" charset="-122"/>
                <a:cs typeface="Aptos" pitchFamily="34" charset="-120"/>
              </a:rPr>
              <a:t>Tesla should continue structural cost reduction and supply-chain localization while expanding recurring revenue from software, charging access, and energy storage.</a:t>
            </a:r>
            <a:endParaRPr lang="en-US" sz="1800" dirty="0"/>
          </a:p>
          <a:p>
            <a:pPr marL="152400" indent="-152400">
              <a:buSzPct val="100000"/>
              <a:buChar char="•"/>
            </a:pPr>
            <a:r>
              <a:rPr lang="en-US" sz="1800" dirty="0">
                <a:solidFill>
                  <a:srgbClr val="1F2937"/>
                </a:solidFill>
                <a:latin typeface="Aptos" pitchFamily="34" charset="0"/>
                <a:ea typeface="Aptos" pitchFamily="34" charset="-122"/>
                <a:cs typeface="Aptos" pitchFamily="34" charset="-120"/>
              </a:rPr>
              <a:t>This strategy fits the SWOT picture: strong ecosystem and software advantages, but rising exposure to rivalry, regulation, and margin pressure.</a:t>
            </a:r>
            <a:endParaRPr lang="en-US" sz="1800" dirty="0"/>
          </a:p>
          <a:p>
            <a:pPr marL="152400" indent="-152400">
              <a:buSzPct val="100000"/>
              <a:buChar char="•"/>
            </a:pPr>
            <a:r>
              <a:rPr lang="en-US" sz="1800" dirty="0">
                <a:solidFill>
                  <a:srgbClr val="1F2937"/>
                </a:solidFill>
                <a:latin typeface="Aptos" pitchFamily="34" charset="0"/>
                <a:ea typeface="Aptos" pitchFamily="34" charset="-122"/>
                <a:cs typeface="Aptos" pitchFamily="34" charset="-120"/>
              </a:rPr>
              <a:t>The biggest implementation challenge is scaling lower-cost growth without weakening quality, compliance discipline, or brand trust.</a:t>
            </a:r>
            <a:endParaRPr lang="en-US" sz="1800" dirty="0"/>
          </a:p>
        </p:txBody>
      </p:sp>
      <p:sp>
        <p:nvSpPr>
          <p:cNvPr id="10" name="Shape 8"/>
          <p:cNvSpPr/>
          <p:nvPr/>
        </p:nvSpPr>
        <p:spPr>
          <a:xfrm>
            <a:off x="822960" y="5815584"/>
            <a:ext cx="4745736" cy="384048"/>
          </a:xfrm>
          <a:prstGeom prst="roundRect">
            <a:avLst>
              <a:gd name="adj" fmla="val 14286"/>
            </a:avLst>
          </a:prstGeom>
          <a:solidFill>
            <a:srgbClr val="F7E9C7"/>
          </a:solidFill>
          <a:ln w="12700">
            <a:solidFill>
              <a:srgbClr val="F7E9C7">
                <a:alpha val="0"/>
              </a:srgbClr>
            </a:solidFill>
            <a:prstDash val="solid"/>
          </a:ln>
        </p:spPr>
        <p:txBody>
          <a:bodyPr/>
          <a:lstStyle/>
          <a:p>
            <a:endParaRPr lang="en-US"/>
          </a:p>
        </p:txBody>
      </p:sp>
      <p:sp>
        <p:nvSpPr>
          <p:cNvPr id="11" name="Text 9"/>
          <p:cNvSpPr/>
          <p:nvPr/>
        </p:nvSpPr>
        <p:spPr>
          <a:xfrm>
            <a:off x="950976" y="5888736"/>
            <a:ext cx="4489704" cy="219456"/>
          </a:xfrm>
          <a:prstGeom prst="rect">
            <a:avLst/>
          </a:prstGeom>
          <a:noFill/>
          <a:ln/>
        </p:spPr>
        <p:txBody>
          <a:bodyPr wrap="square" lIns="0" tIns="0" rIns="0" bIns="0" rtlCol="0" anchor="ctr">
            <a:normAutofit fontScale="70000" lnSpcReduction="20000"/>
          </a:bodyPr>
          <a:lstStyle/>
          <a:p>
            <a:pPr marL="0" indent="0">
              <a:buNone/>
            </a:pPr>
            <a:r>
              <a:rPr lang="en-US" sz="1150" b="1" dirty="0">
                <a:solidFill>
                  <a:srgbClr val="123A63"/>
                </a:solidFill>
                <a:latin typeface="Aptos" pitchFamily="34" charset="0"/>
                <a:ea typeface="Aptos" pitchFamily="34" charset="-122"/>
                <a:cs typeface="Aptos" pitchFamily="34" charset="-120"/>
              </a:rPr>
              <a:t>Takeaway: The path forward is not just bigger scale — it is resilient, differentiated scale.</a:t>
            </a:r>
            <a:endParaRPr lang="en-US" sz="1150" dirty="0"/>
          </a:p>
        </p:txBody>
      </p:sp>
      <p:sp>
        <p:nvSpPr>
          <p:cNvPr id="12" name="Shape 10"/>
          <p:cNvSpPr/>
          <p:nvPr/>
        </p:nvSpPr>
        <p:spPr>
          <a:xfrm>
            <a:off x="6016752" y="1207008"/>
            <a:ext cx="5707610" cy="4754878"/>
          </a:xfrm>
          <a:prstGeom prst="roundRect">
            <a:avLst>
              <a:gd name="adj" fmla="val 1404"/>
            </a:avLst>
          </a:prstGeom>
          <a:solidFill>
            <a:srgbClr val="F9FBFE"/>
          </a:solidFill>
          <a:ln w="12700">
            <a:solidFill>
              <a:srgbClr val="D9E3F0"/>
            </a:solidFill>
            <a:prstDash val="solid"/>
          </a:ln>
        </p:spPr>
        <p:txBody>
          <a:bodyPr/>
          <a:lstStyle/>
          <a:p>
            <a:endParaRPr lang="en-US"/>
          </a:p>
        </p:txBody>
      </p:sp>
      <p:sp>
        <p:nvSpPr>
          <p:cNvPr id="14" name="Text 11"/>
          <p:cNvSpPr/>
          <p:nvPr/>
        </p:nvSpPr>
        <p:spPr>
          <a:xfrm>
            <a:off x="5854665" y="5577840"/>
            <a:ext cx="5184648" cy="146304"/>
          </a:xfrm>
          <a:prstGeom prst="rect">
            <a:avLst/>
          </a:prstGeom>
          <a:noFill/>
          <a:ln/>
        </p:spPr>
        <p:txBody>
          <a:bodyPr wrap="square" lIns="0" tIns="0" rIns="0" bIns="0" rtlCol="0" anchor="ctr"/>
          <a:lstStyle/>
          <a:p>
            <a:pPr marL="0" indent="0" algn="r">
              <a:buNone/>
            </a:pPr>
            <a:r>
              <a:rPr lang="en-US" sz="950" i="1" dirty="0">
                <a:solidFill>
                  <a:srgbClr val="64748B"/>
                </a:solidFill>
                <a:latin typeface="Aptos" pitchFamily="34" charset="0"/>
                <a:ea typeface="Aptos" pitchFamily="34" charset="-122"/>
                <a:cs typeface="Aptos" pitchFamily="34" charset="-120"/>
              </a:rPr>
              <a:t>CPA SWOT synthesis highlighting the strategic opportunity and implementation risks.</a:t>
            </a:r>
            <a:endParaRPr lang="en-US" sz="950" dirty="0"/>
          </a:p>
        </p:txBody>
      </p:sp>
      <p:pic>
        <p:nvPicPr>
          <p:cNvPr id="19" name="Picture 18" descr="Text&#10;&#10;AI-generated content may be incorrect.">
            <a:extLst>
              <a:ext uri="{FF2B5EF4-FFF2-40B4-BE49-F238E27FC236}">
                <a16:creationId xmlns:a16="http://schemas.microsoft.com/office/drawing/2014/main" id="{35AFD837-D2B8-EE34-22C7-43A213A288E1}"/>
              </a:ext>
            </a:extLst>
          </p:cNvPr>
          <p:cNvPicPr>
            <a:picLocks noChangeAspect="1"/>
          </p:cNvPicPr>
          <p:nvPr/>
        </p:nvPicPr>
        <p:blipFill>
          <a:blip r:embed="rId3"/>
          <a:stretch>
            <a:fillRect/>
          </a:stretch>
        </p:blipFill>
        <p:spPr>
          <a:xfrm>
            <a:off x="6132550" y="1437111"/>
            <a:ext cx="5476014" cy="398377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118946"/>
    </mc:Choice>
    <mc:Fallback xmlns="">
      <p:transition spd="slow" advTm="118946"/>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7088B-8CF0-86C5-EF36-8AD197AB5F73}"/>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34B42150-6F5E-BF17-2426-48450283A788}"/>
              </a:ext>
            </a:extLst>
          </p:cNvPr>
          <p:cNvSpPr/>
          <p:nvPr/>
        </p:nvSpPr>
        <p:spPr>
          <a:xfrm>
            <a:off x="1515999" y="218065"/>
            <a:ext cx="9160002" cy="1188717"/>
          </a:xfrm>
          <a:prstGeom prst="rect">
            <a:avLst/>
          </a:prstGeom>
          <a:noFill/>
          <a:ln/>
        </p:spPr>
        <p:txBody>
          <a:bodyPr wrap="square" lIns="0" tIns="0" rIns="0" bIns="0" rtlCol="0" anchor="ctr"/>
          <a:lstStyle/>
          <a:p>
            <a:pPr marL="0" indent="0">
              <a:buNone/>
            </a:pPr>
            <a:r>
              <a:rPr lang="en-US" sz="4000" b="1" dirty="0">
                <a:solidFill>
                  <a:srgbClr val="2F73C8"/>
                </a:solidFill>
                <a:latin typeface="Aptos" pitchFamily="34" charset="0"/>
                <a:ea typeface="Aptos" pitchFamily="34" charset="-122"/>
                <a:cs typeface="Aptos" pitchFamily="34" charset="-120"/>
              </a:rPr>
              <a:t>References</a:t>
            </a:r>
            <a:endParaRPr lang="en-US" sz="4000" dirty="0"/>
          </a:p>
        </p:txBody>
      </p:sp>
      <p:sp>
        <p:nvSpPr>
          <p:cNvPr id="5" name="Shape 3">
            <a:extLst>
              <a:ext uri="{FF2B5EF4-FFF2-40B4-BE49-F238E27FC236}">
                <a16:creationId xmlns:a16="http://schemas.microsoft.com/office/drawing/2014/main" id="{809F8E66-4DA7-83DE-2B6A-5F32481EF329}"/>
              </a:ext>
            </a:extLst>
          </p:cNvPr>
          <p:cNvSpPr/>
          <p:nvPr/>
        </p:nvSpPr>
        <p:spPr>
          <a:xfrm>
            <a:off x="448056" y="3524542"/>
            <a:ext cx="10835640" cy="0"/>
          </a:xfrm>
          <a:prstGeom prst="line">
            <a:avLst/>
          </a:prstGeom>
          <a:noFill/>
          <a:ln w="15240">
            <a:solidFill>
              <a:srgbClr val="D9E3F0"/>
            </a:solidFill>
            <a:prstDash val="solid"/>
          </a:ln>
        </p:spPr>
        <p:txBody>
          <a:bodyPr/>
          <a:lstStyle/>
          <a:p>
            <a:endParaRPr lang="en-US" sz="7200"/>
          </a:p>
        </p:txBody>
      </p:sp>
      <p:sp>
        <p:nvSpPr>
          <p:cNvPr id="15" name="Text 1">
            <a:extLst>
              <a:ext uri="{FF2B5EF4-FFF2-40B4-BE49-F238E27FC236}">
                <a16:creationId xmlns:a16="http://schemas.microsoft.com/office/drawing/2014/main" id="{9996AEB2-45D0-3A56-68C8-9F510283FD82}"/>
              </a:ext>
            </a:extLst>
          </p:cNvPr>
          <p:cNvSpPr/>
          <p:nvPr/>
        </p:nvSpPr>
        <p:spPr>
          <a:xfrm>
            <a:off x="1515999" y="1188717"/>
            <a:ext cx="9160002" cy="1188717"/>
          </a:xfrm>
          <a:prstGeom prst="rect">
            <a:avLst/>
          </a:prstGeom>
          <a:noFill/>
          <a:ln/>
        </p:spPr>
        <p:txBody>
          <a:bodyPr wrap="square" lIns="0" tIns="0" rIns="0" bIns="0" rtlCol="0" anchor="ctr"/>
          <a:lstStyle/>
          <a:p>
            <a:pPr algn="ctr"/>
            <a:endParaRPr lang="en-US" b="1" dirty="0"/>
          </a:p>
        </p:txBody>
      </p:sp>
      <p:sp>
        <p:nvSpPr>
          <p:cNvPr id="2" name="Text 2">
            <a:extLst>
              <a:ext uri="{FF2B5EF4-FFF2-40B4-BE49-F238E27FC236}">
                <a16:creationId xmlns:a16="http://schemas.microsoft.com/office/drawing/2014/main" id="{279AA45B-DA97-F5A9-A265-692C3E412CA0}"/>
              </a:ext>
            </a:extLst>
          </p:cNvPr>
          <p:cNvSpPr/>
          <p:nvPr/>
        </p:nvSpPr>
        <p:spPr>
          <a:xfrm>
            <a:off x="548640" y="1325880"/>
            <a:ext cx="5577840" cy="5074920"/>
          </a:xfrm>
          <a:prstGeom prst="rect">
            <a:avLst/>
          </a:prstGeom>
          <a:noFill/>
          <a:ln/>
        </p:spPr>
        <p:txBody>
          <a:bodyPr wrap="square" rtlCol="0" anchor="t"/>
          <a:lstStyle/>
          <a:p>
            <a:pPr marL="0" indent="0">
              <a:buNone/>
            </a:pPr>
            <a:r>
              <a:rPr lang="en-US" sz="1000" dirty="0">
                <a:solidFill>
                  <a:srgbClr val="111827"/>
                </a:solidFill>
                <a:latin typeface="Calibri" pitchFamily="34" charset="0"/>
                <a:ea typeface="Calibri" pitchFamily="34" charset="-122"/>
                <a:cs typeface="Calibri" pitchFamily="34" charset="-120"/>
              </a:rPr>
              <a:t>Barney, J. B. (1991). Firm resources and sustained competitive advantage. Journal of Management, 17(1), 99–120. https://doi.org/10.1177/014920639101700108</a:t>
            </a:r>
            <a:endParaRPr lang="en-US" sz="1000" dirty="0"/>
          </a:p>
          <a:p>
            <a:pPr marL="0" indent="0">
              <a:buNone/>
            </a:pPr>
            <a:endParaRPr lang="en-US" sz="1000" dirty="0"/>
          </a:p>
          <a:p>
            <a:pPr marL="0" indent="0">
              <a:buNone/>
            </a:pPr>
            <a:r>
              <a:rPr lang="en-US" sz="1000" dirty="0">
                <a:solidFill>
                  <a:srgbClr val="111827"/>
                </a:solidFill>
                <a:latin typeface="Calibri" pitchFamily="34" charset="0"/>
                <a:ea typeface="Calibri" pitchFamily="34" charset="-122"/>
                <a:cs typeface="Calibri" pitchFamily="34" charset="-120"/>
              </a:rPr>
              <a:t>BYD Europe B.V. (2025). BYD reports its financial results in 2024: Revenue hits 777.1 billion yuan, up 29% year-on-year. https://bydukmedia.com/en/news-articles/byd-reports-its-financial-results-in-2024-revenue-hits-777.1-billion-yuan%2C-up-23-year-on-year.html</a:t>
            </a:r>
            <a:endParaRPr lang="en-US" sz="1000" dirty="0"/>
          </a:p>
          <a:p>
            <a:pPr marL="0" indent="0">
              <a:buNone/>
            </a:pPr>
            <a:endParaRPr lang="en-US" sz="1000" dirty="0"/>
          </a:p>
          <a:p>
            <a:pPr marL="0" indent="0">
              <a:buNone/>
            </a:pPr>
            <a:r>
              <a:rPr lang="en-US" sz="1000" dirty="0">
                <a:solidFill>
                  <a:srgbClr val="111827"/>
                </a:solidFill>
                <a:latin typeface="Calibri" pitchFamily="34" charset="0"/>
                <a:ea typeface="Calibri" pitchFamily="34" charset="-122"/>
                <a:cs typeface="Calibri" pitchFamily="34" charset="-120"/>
              </a:rPr>
              <a:t>European Commission. (2024a, July 3). Commission imposes provisional countervailing duties on imports of battery electric vehicles from China while discussions with China continue. https://ec.europa.eu/commission/presscorner/detail/en/ip_24_3630</a:t>
            </a:r>
            <a:endParaRPr lang="en-US" sz="1000" dirty="0"/>
          </a:p>
          <a:p>
            <a:pPr marL="0" indent="0">
              <a:buNone/>
            </a:pPr>
            <a:endParaRPr lang="en-US" sz="1000" dirty="0"/>
          </a:p>
          <a:p>
            <a:pPr marL="0" indent="0">
              <a:buNone/>
            </a:pPr>
            <a:r>
              <a:rPr lang="en-US" sz="1000" dirty="0">
                <a:solidFill>
                  <a:srgbClr val="111827"/>
                </a:solidFill>
                <a:latin typeface="Calibri" pitchFamily="34" charset="0"/>
                <a:ea typeface="Calibri" pitchFamily="34" charset="-122"/>
                <a:cs typeface="Calibri" pitchFamily="34" charset="-120"/>
              </a:rPr>
              <a:t>European Commission. (2024b, December 12). EU Commission imposes countervailing duties on imports of battery electric vehicles (BEVs) from China. https://trade.ec.europa.eu/access-to-markets/en/news/eu-commission-imposes-countervailing-duties-imports-battery-electric-vehicles-bevs-china</a:t>
            </a:r>
            <a:endParaRPr lang="en-US" sz="1000" dirty="0"/>
          </a:p>
          <a:p>
            <a:pPr marL="0" indent="0">
              <a:buNone/>
            </a:pPr>
            <a:endParaRPr lang="en-US" sz="1000" dirty="0"/>
          </a:p>
          <a:p>
            <a:pPr marL="0" indent="0">
              <a:buNone/>
            </a:pPr>
            <a:r>
              <a:rPr lang="en-US" sz="1000" dirty="0">
                <a:solidFill>
                  <a:srgbClr val="111827"/>
                </a:solidFill>
                <a:latin typeface="Calibri" pitchFamily="34" charset="0"/>
                <a:ea typeface="Calibri" pitchFamily="34" charset="-122"/>
                <a:cs typeface="Calibri" pitchFamily="34" charset="-120"/>
              </a:rPr>
              <a:t>Ford Motor Company. (2025). Form 10-K for the fiscal year ended December 31, 2024. https://s205.q4cdn.com/882619693/files/doc_financials/2024/q4/Ford-Motor-Company-2024-10-K-Report.pdf</a:t>
            </a:r>
            <a:endParaRPr lang="en-US" sz="1000" dirty="0"/>
          </a:p>
          <a:p>
            <a:pPr marL="0" indent="0">
              <a:buNone/>
            </a:pPr>
            <a:endParaRPr lang="en-US" sz="1000" dirty="0"/>
          </a:p>
          <a:p>
            <a:pPr marL="0" indent="0">
              <a:buNone/>
            </a:pPr>
            <a:r>
              <a:rPr lang="en-US" sz="1000" dirty="0">
                <a:solidFill>
                  <a:srgbClr val="111827"/>
                </a:solidFill>
                <a:latin typeface="Calibri" pitchFamily="34" charset="0"/>
                <a:ea typeface="Calibri" pitchFamily="34" charset="-122"/>
                <a:cs typeface="Calibri" pitchFamily="34" charset="-120"/>
              </a:rPr>
              <a:t>Hawkins, T. R., Singh, B., Majeau-Bettez, G., &amp; Strømman, A. H. (2013). Comparative environmental life cycle assessment of conventional and electric vehicles. Journal of Industrial Ecology, 17(1), 53–64. https://doi.org/10.1111/j.1530-9290.2012.00532.x</a:t>
            </a:r>
            <a:endParaRPr lang="en-US" sz="1000" dirty="0"/>
          </a:p>
          <a:p>
            <a:pPr marL="0" indent="0">
              <a:buNone/>
            </a:pPr>
            <a:endParaRPr lang="en-US" sz="1000" dirty="0"/>
          </a:p>
          <a:p>
            <a:pPr marL="0" indent="0">
              <a:buNone/>
            </a:pPr>
            <a:r>
              <a:rPr lang="en-US" sz="1000" dirty="0">
                <a:solidFill>
                  <a:srgbClr val="111827"/>
                </a:solidFill>
                <a:latin typeface="Calibri" pitchFamily="34" charset="0"/>
                <a:ea typeface="Calibri" pitchFamily="34" charset="-122"/>
                <a:cs typeface="Calibri" pitchFamily="34" charset="-120"/>
              </a:rPr>
              <a:t>Internal Revenue Service. (2025, November 13). Credits for new clean vehicles purchased in 2023 or after. https://www.irs.gov/credits-deductions/credits-for-new-clean-vehicles-purchased-in-2023-or-after</a:t>
            </a:r>
            <a:endParaRPr lang="en-US" sz="1000" dirty="0"/>
          </a:p>
          <a:p>
            <a:pPr marL="0" indent="0">
              <a:buNone/>
            </a:pPr>
            <a:endParaRPr lang="en-US" sz="1000" dirty="0"/>
          </a:p>
          <a:p>
            <a:pPr marL="0" indent="0">
              <a:buNone/>
            </a:pPr>
            <a:r>
              <a:rPr lang="en-US" sz="1000" dirty="0">
                <a:solidFill>
                  <a:srgbClr val="111827"/>
                </a:solidFill>
                <a:latin typeface="Calibri" pitchFamily="34" charset="0"/>
                <a:ea typeface="Calibri" pitchFamily="34" charset="-122"/>
                <a:cs typeface="Calibri" pitchFamily="34" charset="-120"/>
              </a:rPr>
              <a:t>International Energy Agency. (2024). Global EV outlook 2024. https://iea.blob.core.windows.net/assets/a9e3544b-0b12-4e15-b407-65f5c8ce1b5f/GlobalEVOutlook2024.pdf</a:t>
            </a:r>
            <a:endParaRPr lang="en-US" sz="1000" dirty="0"/>
          </a:p>
          <a:p>
            <a:pPr marL="0" indent="0">
              <a:buNone/>
            </a:pPr>
            <a:endParaRPr lang="en-US" sz="1000" dirty="0"/>
          </a:p>
          <a:p>
            <a:pPr marL="0" indent="0">
              <a:buNone/>
            </a:pPr>
            <a:r>
              <a:rPr lang="en-US" sz="1000" dirty="0">
                <a:solidFill>
                  <a:srgbClr val="111827"/>
                </a:solidFill>
                <a:latin typeface="Calibri" pitchFamily="34" charset="0"/>
                <a:ea typeface="Calibri" pitchFamily="34" charset="-122"/>
                <a:cs typeface="Calibri" pitchFamily="34" charset="-120"/>
              </a:rPr>
              <a:t>Nykvist, B., &amp; Nilsson, M. (2015). Rapidly falling costs of battery packs for electric vehicles. Nature Climate Change, 5, 329–332. https://doi.org/10.1038/nclimate2564</a:t>
            </a:r>
            <a:endParaRPr lang="en-US" sz="1000" dirty="0"/>
          </a:p>
        </p:txBody>
      </p:sp>
      <p:sp>
        <p:nvSpPr>
          <p:cNvPr id="4" name="Text 3">
            <a:extLst>
              <a:ext uri="{FF2B5EF4-FFF2-40B4-BE49-F238E27FC236}">
                <a16:creationId xmlns:a16="http://schemas.microsoft.com/office/drawing/2014/main" id="{410A7618-7057-8E4C-00C2-214347285FA8}"/>
              </a:ext>
            </a:extLst>
          </p:cNvPr>
          <p:cNvSpPr/>
          <p:nvPr/>
        </p:nvSpPr>
        <p:spPr>
          <a:xfrm>
            <a:off x="6263640" y="1325880"/>
            <a:ext cx="5440680" cy="5074920"/>
          </a:xfrm>
          <a:prstGeom prst="rect">
            <a:avLst/>
          </a:prstGeom>
          <a:noFill/>
          <a:ln/>
        </p:spPr>
        <p:txBody>
          <a:bodyPr wrap="square" rtlCol="0" anchor="t"/>
          <a:lstStyle/>
          <a:p>
            <a:pPr marL="0" indent="0">
              <a:buNone/>
            </a:pPr>
            <a:r>
              <a:rPr lang="en-US" sz="1000" dirty="0">
                <a:solidFill>
                  <a:srgbClr val="111827"/>
                </a:solidFill>
                <a:latin typeface="Calibri" pitchFamily="34" charset="0"/>
                <a:ea typeface="Calibri" pitchFamily="34" charset="-122"/>
                <a:cs typeface="Calibri" pitchFamily="34" charset="-120"/>
              </a:rPr>
              <a:t>Porter, M. E. (1980). Competitive strategy: Techniques for analyzing industries and competitors. Free Press.</a:t>
            </a:r>
          </a:p>
          <a:p>
            <a:pPr marL="0" indent="0">
              <a:buNone/>
            </a:pPr>
            <a:endParaRPr lang="en-US" sz="1000" dirty="0">
              <a:solidFill>
                <a:srgbClr val="111827"/>
              </a:solidFill>
              <a:latin typeface="Calibri" pitchFamily="34" charset="0"/>
              <a:ea typeface="Calibri" pitchFamily="34" charset="-122"/>
              <a:cs typeface="Calibri" pitchFamily="34" charset="-120"/>
            </a:endParaRPr>
          </a:p>
          <a:p>
            <a:pPr marL="0" indent="0">
              <a:buNone/>
            </a:pPr>
            <a:r>
              <a:rPr lang="en-US" sz="1000" dirty="0">
                <a:solidFill>
                  <a:schemeClr val="bg1"/>
                </a:solidFill>
                <a:latin typeface="Calibri" panose="020F0502020204030204" pitchFamily="34" charset="0"/>
                <a:ea typeface="Calibri" panose="020F0502020204030204" pitchFamily="34" charset="0"/>
                <a:cs typeface="Calibri" panose="020F0502020204030204" pitchFamily="34" charset="0"/>
              </a:rPr>
              <a:t>ProjectManagerHelper. (2026). Competitive position analysis (CPA) tool. https://www.projectmanagerhelper.com/cpa/</a:t>
            </a:r>
          </a:p>
          <a:p>
            <a:pPr marL="0" indent="0">
              <a:buNone/>
            </a:pPr>
            <a:endParaRPr lang="en-US" sz="1000" dirty="0"/>
          </a:p>
          <a:p>
            <a:pPr marL="0" indent="0">
              <a:buNone/>
            </a:pPr>
            <a:r>
              <a:rPr lang="en-US" sz="1000" dirty="0">
                <a:solidFill>
                  <a:srgbClr val="111827"/>
                </a:solidFill>
                <a:latin typeface="Calibri" pitchFamily="34" charset="0"/>
                <a:ea typeface="Calibri" pitchFamily="34" charset="-122"/>
                <a:cs typeface="Calibri" pitchFamily="34" charset="-120"/>
              </a:rPr>
              <a:t>Sierzchula, W., Bakker, S., Maat, K., &amp; van Wee, B. (2014). The influence of financial incentives and other socio-economic factors on electric vehicle adoption. Energy Policy, 68, 183–194. https://doi.org/10.1016/j.enpol.2014.01.043</a:t>
            </a:r>
            <a:endParaRPr lang="en-US" sz="1000" dirty="0"/>
          </a:p>
          <a:p>
            <a:pPr marL="0" indent="0">
              <a:buNone/>
            </a:pPr>
            <a:endParaRPr lang="en-US" sz="1000" dirty="0"/>
          </a:p>
          <a:p>
            <a:pPr marL="0" indent="0">
              <a:buNone/>
            </a:pPr>
            <a:r>
              <a:rPr lang="en-US" sz="1000" dirty="0">
                <a:solidFill>
                  <a:srgbClr val="111827"/>
                </a:solidFill>
                <a:latin typeface="Calibri" pitchFamily="34" charset="0"/>
                <a:ea typeface="Calibri" pitchFamily="34" charset="-122"/>
                <a:cs typeface="Calibri" pitchFamily="34" charset="-120"/>
              </a:rPr>
              <a:t>Tesla, Inc. (2023). Form 10-K for the fiscal year ended December 31, 2022. https://ir.tesla.com/_flysystem/s3/sec/000095017023001409/tsla-20221231-gen.pdf</a:t>
            </a:r>
            <a:endParaRPr lang="en-US" sz="1000" dirty="0"/>
          </a:p>
          <a:p>
            <a:pPr marL="0" indent="0">
              <a:buNone/>
            </a:pPr>
            <a:endParaRPr lang="en-US" sz="1000" dirty="0"/>
          </a:p>
          <a:p>
            <a:pPr marL="0" indent="0">
              <a:buNone/>
            </a:pPr>
            <a:r>
              <a:rPr lang="en-US" sz="1000" dirty="0">
                <a:solidFill>
                  <a:srgbClr val="111827"/>
                </a:solidFill>
                <a:latin typeface="Calibri" pitchFamily="34" charset="0"/>
                <a:ea typeface="Calibri" pitchFamily="34" charset="-122"/>
                <a:cs typeface="Calibri" pitchFamily="34" charset="-120"/>
              </a:rPr>
              <a:t>Tesla, Inc. (2025a, January 2). Tesla fourth quarter 2024 production, deliveries &amp; deployments. https://ir.tesla.com/press-release/tesla-fourth-quarter-2024-production-deliveries-and-deployments</a:t>
            </a:r>
            <a:endParaRPr lang="en-US" sz="1000" dirty="0"/>
          </a:p>
          <a:p>
            <a:pPr marL="0" indent="0">
              <a:buNone/>
            </a:pPr>
            <a:endParaRPr lang="en-US" sz="1000" dirty="0"/>
          </a:p>
          <a:p>
            <a:pPr marL="0" indent="0">
              <a:buNone/>
            </a:pPr>
            <a:r>
              <a:rPr lang="en-US" sz="1000" dirty="0">
                <a:solidFill>
                  <a:srgbClr val="111827"/>
                </a:solidFill>
                <a:latin typeface="Calibri" pitchFamily="34" charset="0"/>
                <a:ea typeface="Calibri" pitchFamily="34" charset="-122"/>
                <a:cs typeface="Calibri" pitchFamily="34" charset="-120"/>
              </a:rPr>
              <a:t>Tesla, Inc. (2025b). Form 10-K for the fiscal year ended December 31, 2024. U.S. Securities and Exchange Commission. https://www.sec.gov/Archives/edgar/data/1318605/000162828025003063/tsla-20241231.htm</a:t>
            </a:r>
            <a:endParaRPr lang="en-US" sz="1000" dirty="0"/>
          </a:p>
          <a:p>
            <a:pPr marL="0" indent="0">
              <a:buNone/>
            </a:pPr>
            <a:endParaRPr lang="en-US" sz="1000" dirty="0"/>
          </a:p>
          <a:p>
            <a:pPr marL="0" indent="0">
              <a:buNone/>
            </a:pPr>
            <a:r>
              <a:rPr lang="en-US" sz="1000" dirty="0">
                <a:solidFill>
                  <a:srgbClr val="111827"/>
                </a:solidFill>
                <a:latin typeface="Calibri" pitchFamily="34" charset="0"/>
                <a:ea typeface="Calibri" pitchFamily="34" charset="-122"/>
                <a:cs typeface="Calibri" pitchFamily="34" charset="-120"/>
              </a:rPr>
              <a:t>Teece, D. J., Pisano, G., &amp; Shuen, A. (1997). Dynamic capabilities and strategic management. Strategic Management Journal, 18(7), 509–533. https://doi.org/10.1002/(SICI)1097-0266(199708)18:7&lt;509::AID-SMJ882&gt;3.0.CO;2-Z</a:t>
            </a:r>
            <a:endParaRPr lang="en-US" sz="1000" dirty="0"/>
          </a:p>
          <a:p>
            <a:pPr marL="0" indent="0">
              <a:buNone/>
            </a:pPr>
            <a:endParaRPr lang="en-US" sz="1000" dirty="0"/>
          </a:p>
          <a:p>
            <a:pPr marL="0" indent="0">
              <a:buNone/>
            </a:pPr>
            <a:r>
              <a:rPr lang="en-US" sz="1000" dirty="0">
                <a:solidFill>
                  <a:srgbClr val="111827"/>
                </a:solidFill>
                <a:latin typeface="Calibri" pitchFamily="34" charset="0"/>
                <a:ea typeface="Calibri" pitchFamily="34" charset="-122"/>
                <a:cs typeface="Calibri" pitchFamily="34" charset="-120"/>
              </a:rPr>
              <a:t>Volkswagen Group. (2025). Volkswagen Group annual results FY 2024 — key figures. https://uploads.vw-mms.de/system/production/documents/cws/002/933/file_en/c185af7abefe2532043cd52d16cc4b02eaa874f4/2025-03-11_Volkswagen_Group_FY24_Website.pdf</a:t>
            </a:r>
            <a:endParaRPr lang="en-US" sz="1000" dirty="0"/>
          </a:p>
          <a:p>
            <a:pPr marL="0" indent="0">
              <a:buNone/>
            </a:pPr>
            <a:endParaRPr lang="en-US" sz="1000" dirty="0"/>
          </a:p>
          <a:p>
            <a:pPr marL="0" indent="0">
              <a:buNone/>
            </a:pPr>
            <a:r>
              <a:rPr lang="en-US" sz="1000" dirty="0">
                <a:solidFill>
                  <a:srgbClr val="111827"/>
                </a:solidFill>
                <a:latin typeface="Calibri" pitchFamily="34" charset="0"/>
                <a:ea typeface="Calibri" pitchFamily="34" charset="-122"/>
                <a:cs typeface="Calibri" pitchFamily="34" charset="-120"/>
              </a:rPr>
              <a:t>Volkswagen Group. (2026, January 13). Volkswagen Group deliveries remain stable in 2025 (includes Jan–Dec 2024 BEV deliveries table). https://www.volkswagen-group.com/en/press-releases/volkswagen-group-deliveries-remain-stable-in-2025-20095</a:t>
            </a:r>
            <a:endParaRPr lang="en-US" sz="1000" dirty="0"/>
          </a:p>
        </p:txBody>
      </p:sp>
    </p:spTree>
    <p:extLst>
      <p:ext uri="{BB962C8B-B14F-4D97-AF65-F5344CB8AC3E}">
        <p14:creationId xmlns:p14="http://schemas.microsoft.com/office/powerpoint/2010/main" val="3656107343"/>
      </p:ext>
    </p:extLst>
  </p:cSld>
  <p:clrMapOvr>
    <a:masterClrMapping/>
  </p:clrMapOvr>
  <mc:AlternateContent xmlns:mc="http://schemas.openxmlformats.org/markup-compatibility/2006" xmlns:p14="http://schemas.microsoft.com/office/powerpoint/2010/main">
    <mc:Choice Requires="p14">
      <p:transition spd="slow" p14:dur="2000" advTm="2950"/>
    </mc:Choice>
    <mc:Fallback xmlns="">
      <p:transition spd="slow" advTm="2950"/>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1bd84cd2-a803-4625-aaf7-424aaac7782e}" enabled="1" method="Standard" siteId="{8331b18d-2d87-48ef-a35f-ac8818ebf9b4}" contentBits="0" removed="0"/>
</clbl:labelList>
</file>

<file path=docProps/app.xml><?xml version="1.0" encoding="utf-8"?>
<Properties xmlns="http://schemas.openxmlformats.org/officeDocument/2006/extended-properties" xmlns:vt="http://schemas.openxmlformats.org/officeDocument/2006/docPropsVTypes">
  <TotalTime>151</TotalTime>
  <Words>2569</Words>
  <Application>Microsoft Office PowerPoint</Application>
  <PresentationFormat>Widescreen</PresentationFormat>
  <Paragraphs>108</Paragraphs>
  <Slides>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Tesla Strategic Management Executive Briefing - Body Slides</dc:title>
  <dc:subject>Tesla Unit 7 Executive Briefing Body Slides</dc:subject>
  <dc:creator>OpenAI</dc:creator>
  <cp:lastModifiedBy>Laznier Mederos</cp:lastModifiedBy>
  <cp:revision>4</cp:revision>
  <dcterms:created xsi:type="dcterms:W3CDTF">2026-03-11T17:29:08Z</dcterms:created>
  <dcterms:modified xsi:type="dcterms:W3CDTF">2026-03-13T22:40:23Z</dcterms:modified>
</cp:coreProperties>
</file>